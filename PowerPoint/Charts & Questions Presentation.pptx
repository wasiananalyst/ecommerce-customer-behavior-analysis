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56" r:id="rId5"/>
    <p:sldId id="257" r:id="rId6"/>
    <p:sldId id="260" r:id="rId7"/>
    <p:sldId id="286" r:id="rId8"/>
    <p:sldId id="262" r:id="rId9"/>
    <p:sldId id="290" r:id="rId10"/>
    <p:sldId id="291" r:id="rId11"/>
    <p:sldId id="258" r:id="rId12"/>
    <p:sldId id="289" r:id="rId13"/>
    <p:sldId id="288" r:id="rId14"/>
    <p:sldId id="293" r:id="rId15"/>
    <p:sldId id="294" r:id="rId16"/>
    <p:sldId id="261" r:id="rId17"/>
    <p:sldId id="297" r:id="rId18"/>
    <p:sldId id="298" r:id="rId19"/>
    <p:sldId id="300" r:id="rId20"/>
    <p:sldId id="301" r:id="rId21"/>
    <p:sldId id="303" r:id="rId22"/>
    <p:sldId id="304" r:id="rId23"/>
    <p:sldId id="306" r:id="rId24"/>
    <p:sldId id="307" r:id="rId25"/>
    <p:sldId id="308" r:id="rId26"/>
    <p:sldId id="325" r:id="rId27"/>
    <p:sldId id="309" r:id="rId28"/>
    <p:sldId id="311" r:id="rId29"/>
    <p:sldId id="312" r:id="rId30"/>
    <p:sldId id="314" r:id="rId31"/>
    <p:sldId id="31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E0F6"/>
    <a:srgbClr val="2B2D42"/>
    <a:srgbClr val="175676"/>
    <a:srgbClr val="8D99AE"/>
    <a:srgbClr val="0C4360"/>
    <a:srgbClr val="103350"/>
    <a:srgbClr val="0C75AC"/>
    <a:srgbClr val="1B6872"/>
    <a:srgbClr val="63B7C6"/>
    <a:srgbClr val="002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5656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6/5/2026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6/5/2026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09777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17059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FFB03-5AE6-460A-045B-C520178DF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BF959F-4B9F-1902-29D6-C417EB7AE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1426B8-CF2C-9ED5-1D13-244EDB245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23DCC-06A7-A41C-2CB5-18ED6AAE3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6507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EEDF3-4291-FBA4-CE9A-6F6640E07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C7EC4-8C5B-1163-871A-C3C6907A3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41E84-EEA2-6229-E638-0170A3E73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70ED4-65FE-D518-F34C-158BA6085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0369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7008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1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594" lvl="0" indent="-228594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2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5" y="1404394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6" y="5665753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6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3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60" y="-497211"/>
            <a:ext cx="818398" cy="986163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594" lvl="0" indent="-228594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7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2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3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7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7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6" y="5665753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6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6" y="6257995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2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594" lvl="0" indent="-228594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7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3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7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5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7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1" y="3200402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7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2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1" y="2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1" y="542926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1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7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9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1" y="1625386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2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1" y="2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1" y="542926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1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9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80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1" y="5448299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7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2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1" y="2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1" y="542926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1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9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80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1" y="5448299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7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2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1" y="2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1" y="542926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1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9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80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1" y="5448299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7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2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1" y="2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1" y="542926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1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9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80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1" y="5448299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7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1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3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1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3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2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1" y="2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1" y="542926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1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9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80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1" y="5448299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7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6" y="1517715"/>
            <a:ext cx="5184437" cy="4659248"/>
          </a:xfrm>
        </p:spPr>
        <p:txBody>
          <a:bodyPr>
            <a:normAutofit/>
          </a:bodyPr>
          <a:lstStyle>
            <a:lvl1pPr marL="457189" indent="-457189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080" indent="-342891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269" indent="-342891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09" indent="-285744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498" indent="-285744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4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2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1" y="2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1" y="542926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1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9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3" y="2096718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2" y="2096718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9" y="2096718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8" y="2096718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5" y="2096718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3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1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9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6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1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6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1" y="5448299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7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2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1" y="2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1" y="542926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1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9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3" y="4240093"/>
            <a:ext cx="3293307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1" y="5448299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7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3" y="1352577"/>
            <a:ext cx="12192003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7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7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2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1" y="2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1" y="542926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1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9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7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1" y="5448299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7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3" y="1352577"/>
            <a:ext cx="12192003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2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1" y="2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1" y="542926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1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9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1" y="5448299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7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9" y="1444651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7" y="1444651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2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1" y="2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1" y="542926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1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9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1" y="5448299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7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7" y="1444651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51"/>
            <a:ext cx="7694311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2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1" y="2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9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1" y="5448299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7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8" y="0"/>
            <a:ext cx="12208299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2"/>
            <a:ext cx="6858000" cy="12192003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2"/>
            <a:ext cx="6858000" cy="12192003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1" y="0"/>
            <a:ext cx="6881967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9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8" y="0"/>
            <a:ext cx="12208299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2"/>
            <a:ext cx="6858000" cy="12192003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2"/>
            <a:ext cx="6858000" cy="12192003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9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8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0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2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2B2D42"/>
          </a:fgClr>
          <a:bgClr>
            <a:srgbClr val="2B2D4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2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3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1" y="3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1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sz="3200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9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800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1" y="5448299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7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sz="1000" noProof="0" smtClean="0"/>
              <a:pPr/>
              <a:t>‹#›</a:t>
            </a:fld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36">
          <p15:clr>
            <a:srgbClr val="F26B43"/>
          </p15:clr>
        </p15:guide>
        <p15:guide id="4" orient="horz" pos="336">
          <p15:clr>
            <a:srgbClr val="F26B43"/>
          </p15:clr>
        </p15:guide>
        <p15:guide id="5" pos="7344">
          <p15:clr>
            <a:srgbClr val="F26B43"/>
          </p15:clr>
        </p15:guide>
        <p15:guide id="6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wasi-yamin-50432a373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mailto:analyticswasi31@gmail.com" TargetMode="External"/><Relationship Id="rId4" Type="http://schemas.openxmlformats.org/officeDocument/2006/relationships/hyperlink" Target="https://github.com/WasiAnAnalyst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F026D-1F9B-26AC-C11D-D8C7E33EED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0" y="730278"/>
            <a:ext cx="12192000" cy="1102380"/>
          </a:xfrm>
          <a:solidFill>
            <a:schemeClr val="accent5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/>
            <a:r>
              <a:rPr lang="en-US" sz="2800" b="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E-Commerce Customer Behavior</a:t>
            </a:r>
            <a:br>
              <a:rPr lang="en-US" sz="2800" b="0" dirty="0">
                <a:solidFill>
                  <a:schemeClr val="bg1"/>
                </a:solidFill>
              </a:rPr>
            </a:br>
            <a:r>
              <a:rPr lang="en-US" sz="2800" b="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40F57-D813-0354-5B07-22CB95BC9D9B}"/>
              </a:ext>
            </a:extLst>
          </p:cNvPr>
          <p:cNvSpPr txBox="1">
            <a:spLocks/>
          </p:cNvSpPr>
          <p:nvPr/>
        </p:nvSpPr>
        <p:spPr>
          <a:xfrm>
            <a:off x="0" y="9418"/>
            <a:ext cx="3898232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Montserrat SemiBold Italic" panose="00000700000000000000" pitchFamily="2" charset="0"/>
              </a:rPr>
              <a:t>Executive Briefing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E68DB2-F558-0E95-A04B-C7E9BA400B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033658" y="61666"/>
            <a:ext cx="4158343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solidFill>
                  <a:schemeClr val="bg1"/>
                </a:solidFill>
              </a:rPr>
              <a:t>Submitted : </a:t>
            </a:r>
            <a:r>
              <a:rPr lang="en-US" sz="2800" b="1" i="1" dirty="0">
                <a:solidFill>
                  <a:schemeClr val="bg1"/>
                </a:solidFill>
              </a:rPr>
              <a:t>20</a:t>
            </a:r>
            <a:r>
              <a:rPr lang="en-US" sz="2800" i="1" dirty="0">
                <a:solidFill>
                  <a:schemeClr val="bg1"/>
                </a:solidFill>
              </a:rPr>
              <a:t> May 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BBAD5B-27D5-76D9-ED50-8A41FBE9E090}"/>
              </a:ext>
            </a:extLst>
          </p:cNvPr>
          <p:cNvSpPr txBox="1"/>
          <p:nvPr/>
        </p:nvSpPr>
        <p:spPr>
          <a:xfrm>
            <a:off x="7035800" y="2626820"/>
            <a:ext cx="5156200" cy="984885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107950" dist="12700" dir="5400000" algn="ctr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Analysis &amp; Presented By</a:t>
            </a:r>
          </a:p>
          <a:p>
            <a:pPr algn="ctr"/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   Yamin Wasi                        Data Analyst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86DDBC-6E06-102B-9E26-8929ABBECE5E}"/>
              </a:ext>
            </a:extLst>
          </p:cNvPr>
          <p:cNvSpPr txBox="1"/>
          <p:nvPr/>
        </p:nvSpPr>
        <p:spPr>
          <a:xfrm>
            <a:off x="7035800" y="4007806"/>
            <a:ext cx="5156200" cy="224676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highlight>
                  <a:srgbClr val="0C4360"/>
                </a:highlight>
              </a:rPr>
              <a:t>Contact &amp; Portfolio</a:t>
            </a:r>
          </a:p>
          <a:p>
            <a:pPr algn="ctr"/>
            <a:endParaRPr lang="en-US" sz="2000" b="1" i="1" dirty="0">
              <a:solidFill>
                <a:schemeClr val="bg1"/>
              </a:solidFill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highlight>
                  <a:srgbClr val="0C4360"/>
                </a:highlight>
              </a:rPr>
              <a:t>LinkedIn Profile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i="1" dirty="0">
                <a:solidFill>
                  <a:schemeClr val="bg1"/>
                </a:solidFill>
              </a:rPr>
              <a:t>: </a:t>
            </a:r>
            <a:r>
              <a:rPr lang="en-US" sz="2000" b="1" i="1" dirty="0">
                <a:solidFill>
                  <a:schemeClr val="accent5">
                    <a:lumMod val="20000"/>
                    <a:lumOff val="8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</a:t>
            </a:r>
            <a:endParaRPr lang="en-US" sz="2000" b="1" i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US" sz="2000" b="1" i="1" dirty="0">
              <a:solidFill>
                <a:schemeClr val="bg1"/>
              </a:solidFill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Github Portfolio  </a:t>
            </a:r>
            <a:r>
              <a:rPr lang="en-US" sz="2000" b="1" i="1" dirty="0">
                <a:solidFill>
                  <a:schemeClr val="bg1"/>
                </a:solidFill>
              </a:rPr>
              <a:t>:  </a:t>
            </a:r>
            <a:r>
              <a:rPr lang="en-US" sz="2000" b="1" i="1" u="sng" dirty="0">
                <a:solidFill>
                  <a:schemeClr val="accent5">
                    <a:lumMod val="20000"/>
                    <a:lumOff val="8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</a:t>
            </a:r>
            <a:endParaRPr lang="en-US" sz="2000" b="1" i="1" u="sng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endParaRPr lang="en-US" sz="2000" b="1" i="1" u="sng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Mail  </a:t>
            </a:r>
            <a:r>
              <a:rPr lang="en-US" sz="2000" b="1" i="1" dirty="0">
                <a:solidFill>
                  <a:schemeClr val="bg1"/>
                </a:solidFill>
              </a:rPr>
              <a:t>     :  </a:t>
            </a:r>
            <a:r>
              <a:rPr lang="en-US" b="1" i="1" dirty="0">
                <a:solidFill>
                  <a:srgbClr val="B8E0F6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analyticswasi31@gmail.com</a:t>
            </a:r>
            <a:endParaRPr lang="en-US" b="1" i="1" dirty="0">
              <a:solidFill>
                <a:srgbClr val="B8E0F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A62465-C61E-D211-0C85-8DDFDCDE70D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030297"/>
            <a:ext cx="6862813" cy="646331"/>
          </a:xfrm>
          <a:prstGeom prst="rect">
            <a:avLst/>
          </a:prstGeom>
          <a:solidFill>
            <a:srgbClr val="103350">
              <a:alpha val="72000"/>
            </a:srgb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Exploring Customer Purchase Patterns, Interaction and Return Behavior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A74768-155E-CDE4-CC73-D0E5FBB891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1761" y="2845100"/>
            <a:ext cx="6269393" cy="400348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 advTm="1098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2B2D42"/>
          </a:fgClr>
          <a:bgClr>
            <a:srgbClr val="2B2D4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654F485-1091-B4D7-F3B7-8FB17860ED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97042" y="39011"/>
            <a:ext cx="3194959" cy="646331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Tools Uses </a:t>
            </a:r>
            <a:r>
              <a:rPr lang="en-US" dirty="0">
                <a:solidFill>
                  <a:schemeClr val="bg1"/>
                </a:solidFill>
              </a:rPr>
              <a:t>: Python , SQL, Power BI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92840-949A-C6F3-ACAE-FD91118C29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8729" y="1349497"/>
            <a:ext cx="561702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Customer Demographics Overview</a:t>
            </a:r>
          </a:p>
          <a:p>
            <a:pPr marL="457189" indent="-457189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  <a:p>
            <a:pPr marL="457189" indent="-457189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Purchase Amount Behavior</a:t>
            </a:r>
          </a:p>
          <a:p>
            <a:pPr marL="457189" indent="-457189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  <a:p>
            <a:pPr marL="457189" indent="-457189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Product Category Performance</a:t>
            </a:r>
          </a:p>
          <a:p>
            <a:pPr marL="457189" indent="-457189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  <a:p>
            <a:pPr marL="457189" indent="-457189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Subscription &amp; Payment Analysis</a:t>
            </a:r>
          </a:p>
          <a:p>
            <a:pPr marL="457189" indent="-457189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  <a:p>
            <a:pPr marL="457189" indent="-457189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Discount Impact Analysis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1F5B9-BD0C-2191-6C0F-2C643346B50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078977" y="1349497"/>
            <a:ext cx="5614416" cy="526297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Website Engagement Analysis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Customer Satisfaction Analysis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Return Customer Analysis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Location &amp; Delivery Analysis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Key Findings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460965-2919-2165-4A54-0D4DE687325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4043" y="307080"/>
            <a:ext cx="5453743" cy="523220"/>
          </a:xfrm>
          <a:prstGeom prst="rect">
            <a:avLst/>
          </a:prstGeom>
          <a:solidFill>
            <a:srgbClr val="17567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Montserrat SemiBold Italic" panose="00000700000000000000" pitchFamily="2" charset="0"/>
              </a:rPr>
              <a:t>AGENDA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8DDD36-0555-51ED-9893-CF6A7C40B8B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193971" y="1469572"/>
            <a:ext cx="0" cy="538842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955">
        <p:fade/>
      </p:transition>
    </mc:Choice>
    <mc:Fallback xmlns="">
      <p:transition spd="med" advTm="5955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85600" y="6315075"/>
            <a:ext cx="406400" cy="365125"/>
          </a:xfrm>
        </p:spPr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1ACF26-CE38-8BF6-5514-1CC8C33971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43263" y="353645"/>
            <a:ext cx="8105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+mj-lt"/>
              </a:rPr>
              <a:t>Business Overview &amp; Key Objectives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39B0FB-2BF5-CE49-0AFC-7547C5559937}"/>
              </a:ext>
            </a:extLst>
          </p:cNvPr>
          <p:cNvSpPr txBox="1"/>
          <p:nvPr/>
        </p:nvSpPr>
        <p:spPr>
          <a:xfrm>
            <a:off x="0" y="2898755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This e-commerce dataset encompasses </a:t>
            </a:r>
            <a:r>
              <a:rPr lang="en-US" sz="2400" b="1" dirty="0">
                <a:solidFill>
                  <a:schemeClr val="bg1"/>
                </a:solidFill>
              </a:rPr>
              <a:t>10,000 customers</a:t>
            </a:r>
            <a:r>
              <a:rPr lang="en-US" sz="2400" dirty="0">
                <a:solidFill>
                  <a:schemeClr val="bg1"/>
                </a:solidFill>
              </a:rPr>
              <a:t> and </a:t>
            </a:r>
            <a:r>
              <a:rPr lang="en-US" sz="2400" b="1" dirty="0">
                <a:solidFill>
                  <a:schemeClr val="bg1"/>
                </a:solidFill>
              </a:rPr>
              <a:t>10,000 transactions</a:t>
            </a:r>
            <a:r>
              <a:rPr lang="en-US" sz="2400" dirty="0">
                <a:solidFill>
                  <a:schemeClr val="bg1"/>
                </a:solidFill>
              </a:rPr>
              <a:t>, generating a total revenue of </a:t>
            </a:r>
            <a:r>
              <a:rPr lang="en-US" sz="2400" b="1" dirty="0">
                <a:solidFill>
                  <a:schemeClr val="bg1"/>
                </a:solidFill>
              </a:rPr>
              <a:t>$5.04 million</a:t>
            </a:r>
            <a:r>
              <a:rPr lang="en-US" sz="2400" dirty="0">
                <a:solidFill>
                  <a:schemeClr val="bg1"/>
                </a:solidFill>
              </a:rPr>
              <a:t> across </a:t>
            </a:r>
            <a:r>
              <a:rPr lang="en-US" sz="2400" b="1" dirty="0">
                <a:solidFill>
                  <a:schemeClr val="bg1"/>
                </a:solidFill>
              </a:rPr>
              <a:t>8 product categories</a:t>
            </a:r>
            <a:r>
              <a:rPr lang="en-US" sz="2400" dirty="0">
                <a:solidFill>
                  <a:schemeClr val="bg1"/>
                </a:solidFill>
              </a:rPr>
              <a:t>. A cumulative </a:t>
            </a:r>
            <a:r>
              <a:rPr lang="en-US" sz="2400" b="1" dirty="0">
                <a:solidFill>
                  <a:schemeClr val="bg1"/>
                </a:solidFill>
              </a:rPr>
              <a:t>49,985 items</a:t>
            </a:r>
            <a:r>
              <a:rPr lang="en-US" sz="2400" dirty="0">
                <a:solidFill>
                  <a:schemeClr val="bg1"/>
                </a:solidFill>
              </a:rPr>
              <a:t> were purchased  approximately </a:t>
            </a:r>
            <a:r>
              <a:rPr lang="en-US" sz="2400" b="1" dirty="0">
                <a:solidFill>
                  <a:schemeClr val="bg1"/>
                </a:solidFill>
              </a:rPr>
              <a:t>50,000 units</a:t>
            </a:r>
            <a:r>
              <a:rPr lang="en-US" sz="2400" dirty="0">
                <a:solidFill>
                  <a:schemeClr val="bg1"/>
                </a:solidFill>
              </a:rPr>
              <a:t> in total  reflecting an average basket size of </a:t>
            </a:r>
            <a:r>
              <a:rPr lang="en-US" sz="2400" b="1" dirty="0">
                <a:solidFill>
                  <a:schemeClr val="bg1"/>
                </a:solidFill>
              </a:rPr>
              <a:t>5 items per transaction.</a:t>
            </a:r>
            <a:r>
              <a:rPr lang="en-US" sz="2400" dirty="0">
                <a:solidFill>
                  <a:schemeClr val="bg1"/>
                </a:solidFill>
              </a:rPr>
              <a:t> Notably </a:t>
            </a:r>
            <a:r>
              <a:rPr lang="en-US" sz="2400" b="1" dirty="0">
                <a:solidFill>
                  <a:schemeClr val="bg1"/>
                </a:solidFill>
              </a:rPr>
              <a:t>4,996 customers (50%)</a:t>
            </a:r>
            <a:r>
              <a:rPr lang="en-US" sz="2400" dirty="0">
                <a:solidFill>
                  <a:schemeClr val="bg1"/>
                </a:solidFill>
              </a:rPr>
              <a:t> are classified as return buyers, indicating a stable loyalty base where one in every two customers makes a repeat purchase. With a </a:t>
            </a:r>
            <a:r>
              <a:rPr lang="en-US" sz="2400" b="1" dirty="0">
                <a:solidFill>
                  <a:schemeClr val="bg1"/>
                </a:solidFill>
              </a:rPr>
              <a:t>Premium subscription rate of 34%</a:t>
            </a:r>
            <a:r>
              <a:rPr lang="en-US" sz="2400" dirty="0">
                <a:solidFill>
                  <a:schemeClr val="bg1"/>
                </a:solidFill>
              </a:rPr>
              <a:t>, the business demonstrates a growing paid user segment with significant potential for subscription-driven revenue growth.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44C74A9-0904-C641-B7ED-566F78223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6312"/>
            <a:ext cx="12192000" cy="147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6">
        <p:fade/>
      </p:transition>
    </mc:Choice>
    <mc:Fallback xmlns="">
      <p:transition spd="med" advTm="36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FA15C-8A70-7D2B-BFB7-DBB7CFEF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ADE02E-B604-2E88-A51B-E7A87E6DFDA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85600" y="6315075"/>
            <a:ext cx="406400" cy="365125"/>
          </a:xfrm>
        </p:spPr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E58855-4770-0F4E-6E6E-3BE77FD6937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75920" y="124254"/>
            <a:ext cx="91907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Customer Demographics Overview →   Mean, Median, and Mode (Age)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7605D2-5A0F-4C28-6D8C-0E94DCD64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81484"/>
            <a:ext cx="5910943" cy="44335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76A4BD-0F4D-65F1-5E68-D897A89C67C0}"/>
              </a:ext>
            </a:extLst>
          </p:cNvPr>
          <p:cNvSpPr txBox="1">
            <a:spLocks/>
          </p:cNvSpPr>
          <p:nvPr/>
        </p:nvSpPr>
        <p:spPr>
          <a:xfrm>
            <a:off x="6095999" y="885991"/>
            <a:ext cx="6096000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Age range spans </a:t>
            </a:r>
            <a:r>
              <a:rPr lang="en-US" sz="1300" b="1" dirty="0">
                <a:solidFill>
                  <a:schemeClr val="bg1"/>
                </a:solidFill>
              </a:rPr>
              <a:t>18 to 69 years</a:t>
            </a:r>
            <a:r>
              <a:rPr lang="en-US" sz="1300" dirty="0">
                <a:solidFill>
                  <a:schemeClr val="bg1"/>
                </a:solidFill>
              </a:rPr>
              <a:t> (51-year spread) with </a:t>
            </a:r>
            <a:r>
              <a:rPr lang="en-US" sz="1300" b="1" dirty="0">
                <a:solidFill>
                  <a:schemeClr val="bg1"/>
                </a:solidFill>
              </a:rPr>
              <a:t>10,000 customers</a:t>
            </a:r>
            <a:r>
              <a:rPr lang="en-US" sz="1300" dirty="0">
                <a:solidFill>
                  <a:schemeClr val="bg1"/>
                </a:solidFill>
              </a:rPr>
              <a:t> distributed across all age brackets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Mean age = </a:t>
            </a:r>
            <a:r>
              <a:rPr lang="en-US" sz="1300" b="1" dirty="0">
                <a:solidFill>
                  <a:schemeClr val="bg1"/>
                </a:solidFill>
              </a:rPr>
              <a:t>43.79 years</a:t>
            </a:r>
            <a:r>
              <a:rPr lang="en-US" sz="1300" dirty="0">
                <a:solidFill>
                  <a:schemeClr val="bg1"/>
                </a:solidFill>
              </a:rPr>
              <a:t> | Median = </a:t>
            </a:r>
            <a:r>
              <a:rPr lang="en-US" sz="1300" b="1" dirty="0">
                <a:solidFill>
                  <a:schemeClr val="bg1"/>
                </a:solidFill>
              </a:rPr>
              <a:t>44 years</a:t>
            </a:r>
            <a:r>
              <a:rPr lang="en-US" sz="1300" dirty="0">
                <a:solidFill>
                  <a:schemeClr val="bg1"/>
                </a:solidFill>
              </a:rPr>
              <a:t> | Mode = </a:t>
            </a:r>
            <a:r>
              <a:rPr lang="en-US" sz="1300" b="1" dirty="0">
                <a:solidFill>
                  <a:schemeClr val="bg1"/>
                </a:solidFill>
              </a:rPr>
              <a:t>51 years</a:t>
            </a:r>
            <a:r>
              <a:rPr lang="en-US" sz="1300" dirty="0">
                <a:solidFill>
                  <a:schemeClr val="bg1"/>
                </a:solidFill>
              </a:rPr>
              <a:t> — Mean and Median nearly identical confirming </a:t>
            </a:r>
            <a:r>
              <a:rPr lang="en-US" sz="1300" b="1" dirty="0">
                <a:solidFill>
                  <a:schemeClr val="bg1"/>
                </a:solidFill>
              </a:rPr>
              <a:t>near-symmetric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Mode age 51</a:t>
            </a:r>
            <a:r>
              <a:rPr lang="en-US" sz="1300" dirty="0">
                <a:solidFill>
                  <a:schemeClr val="bg1"/>
                </a:solidFill>
              </a:rPr>
              <a:t> represents the most common customer profile with the </a:t>
            </a:r>
            <a:r>
              <a:rPr lang="en-US" sz="1300" b="1" dirty="0">
                <a:solidFill>
                  <a:schemeClr val="bg1"/>
                </a:solidFill>
              </a:rPr>
              <a:t>49-51 bracket recording the highest frequency of 614 customers</a:t>
            </a:r>
            <a:r>
              <a:rPr lang="en-US" sz="1300" dirty="0">
                <a:solidFill>
                  <a:schemeClr val="bg1"/>
                </a:solidFill>
              </a:rPr>
              <a:t> — the absolute peak of the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KDE curve recovers and climbs steadily through </a:t>
            </a:r>
            <a:r>
              <a:rPr lang="en-US" sz="1300" b="1" dirty="0">
                <a:solidFill>
                  <a:schemeClr val="bg1"/>
                </a:solidFill>
              </a:rPr>
              <a:t>34-44 range (374-572 customers)</a:t>
            </a:r>
            <a:r>
              <a:rPr lang="en-US" sz="1300" dirty="0">
                <a:solidFill>
                  <a:schemeClr val="bg1"/>
                </a:solidFill>
              </a:rPr>
              <a:t> → crosses mean line at </a:t>
            </a:r>
            <a:r>
              <a:rPr lang="en-US" sz="1300" b="1" dirty="0">
                <a:solidFill>
                  <a:schemeClr val="bg1"/>
                </a:solidFill>
              </a:rPr>
              <a:t>43.79 years</a:t>
            </a:r>
            <a:r>
              <a:rPr lang="en-US" sz="1300" dirty="0">
                <a:solidFill>
                  <a:schemeClr val="bg1"/>
                </a:solidFill>
              </a:rPr>
              <a:t> → reaches absolute peak at </a:t>
            </a:r>
            <a:r>
              <a:rPr lang="en-US" sz="1300" b="1" dirty="0">
                <a:solidFill>
                  <a:schemeClr val="bg1"/>
                </a:solidFill>
              </a:rPr>
              <a:t>49-51 (614 customers)</a:t>
            </a: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Following the peak KDE curve descends progressively through </a:t>
            </a:r>
            <a:r>
              <a:rPr lang="en-US" sz="1300" b="1" dirty="0">
                <a:solidFill>
                  <a:schemeClr val="bg1"/>
                </a:solidFill>
              </a:rPr>
              <a:t>54-69 range (387-577 customers)</a:t>
            </a:r>
            <a:r>
              <a:rPr lang="en-US" sz="1300" dirty="0">
                <a:solidFill>
                  <a:schemeClr val="bg1"/>
                </a:solidFill>
              </a:rPr>
              <a:t> ending at lowest density near age </a:t>
            </a:r>
            <a:r>
              <a:rPr lang="en-US" sz="1300" b="1" dirty="0">
                <a:solidFill>
                  <a:schemeClr val="bg1"/>
                </a:solidFill>
              </a:rPr>
              <a:t>69 (577 customers).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Frequency range across all bins = </a:t>
            </a:r>
            <a:r>
              <a:rPr lang="en-US" sz="1300" b="1" dirty="0">
                <a:solidFill>
                  <a:schemeClr val="bg1"/>
                </a:solidFill>
              </a:rPr>
              <a:t>348 to 614 customers</a:t>
            </a:r>
            <a:r>
              <a:rPr lang="en-US" sz="1300" dirty="0">
                <a:solidFill>
                  <a:schemeClr val="bg1"/>
                </a:solidFill>
              </a:rPr>
              <a:t> — a difference of only </a:t>
            </a:r>
            <a:r>
              <a:rPr lang="en-US" sz="1300" b="1" dirty="0">
                <a:solidFill>
                  <a:schemeClr val="bg1"/>
                </a:solidFill>
              </a:rPr>
              <a:t>266 customers</a:t>
            </a:r>
            <a:r>
              <a:rPr lang="en-US" sz="1300" dirty="0">
                <a:solidFill>
                  <a:schemeClr val="bg1"/>
                </a:solidFill>
              </a:rPr>
              <a:t> across the entire 51-year age range confirming </a:t>
            </a:r>
            <a:r>
              <a:rPr lang="en-US" sz="1300" b="1" dirty="0">
                <a:solidFill>
                  <a:schemeClr val="bg1"/>
                </a:solidFill>
              </a:rPr>
              <a:t>near-uniform distribution.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Business implication </a:t>
            </a:r>
            <a:r>
              <a:rPr lang="en-US" sz="1300" dirty="0">
                <a:solidFill>
                  <a:schemeClr val="bg1"/>
                </a:solidFill>
              </a:rPr>
              <a:t>→ Average age of </a:t>
            </a:r>
            <a:r>
              <a:rPr lang="en-US" sz="1300" b="1" dirty="0">
                <a:solidFill>
                  <a:schemeClr val="bg1"/>
                </a:solidFill>
              </a:rPr>
              <a:t>43.79 years</a:t>
            </a:r>
            <a:r>
              <a:rPr lang="en-US" sz="1300" dirty="0">
                <a:solidFill>
                  <a:schemeClr val="bg1"/>
                </a:solidFill>
              </a:rPr>
              <a:t> indicates a </a:t>
            </a:r>
            <a:r>
              <a:rPr lang="en-US" sz="1300" b="1" dirty="0">
                <a:solidFill>
                  <a:schemeClr val="bg1"/>
                </a:solidFill>
              </a:rPr>
              <a:t>financially mature, established customer base</a:t>
            </a:r>
            <a:r>
              <a:rPr lang="en-US" sz="1300" dirty="0">
                <a:solidFill>
                  <a:schemeClr val="bg1"/>
                </a:solidFill>
              </a:rPr>
              <a:t> with stable income and deliberate buying behavior.</a:t>
            </a:r>
            <a:br>
              <a:rPr lang="en-US" sz="1300" dirty="0">
                <a:solidFill>
                  <a:schemeClr val="bg1"/>
                </a:solidFill>
              </a:rPr>
            </a:b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Mode age </a:t>
            </a:r>
            <a:r>
              <a:rPr lang="en-US" sz="1300" b="1" dirty="0">
                <a:solidFill>
                  <a:schemeClr val="bg1"/>
                </a:solidFill>
              </a:rPr>
              <a:t>51</a:t>
            </a:r>
            <a:r>
              <a:rPr lang="en-US" sz="1300" dirty="0">
                <a:solidFill>
                  <a:schemeClr val="bg1"/>
                </a:solidFill>
              </a:rPr>
              <a:t> combined with </a:t>
            </a:r>
            <a:r>
              <a:rPr lang="en-US" sz="1300" b="1" dirty="0">
                <a:solidFill>
                  <a:schemeClr val="bg1"/>
                </a:solidFill>
              </a:rPr>
              <a:t>50% return rate</a:t>
            </a:r>
            <a:r>
              <a:rPr lang="en-US" sz="1300" dirty="0">
                <a:solidFill>
                  <a:schemeClr val="bg1"/>
                </a:solidFill>
              </a:rPr>
              <a:t> confirms a </a:t>
            </a:r>
            <a:r>
              <a:rPr lang="en-US" sz="1300" b="1" dirty="0">
                <a:solidFill>
                  <a:schemeClr val="bg1"/>
                </a:solidFill>
              </a:rPr>
              <a:t>brand-conscious, loyalty-driven consumer segment</a:t>
            </a:r>
            <a:r>
              <a:rPr lang="en-US" sz="1300" dirty="0">
                <a:solidFill>
                  <a:schemeClr val="bg1"/>
                </a:solidFill>
              </a:rPr>
              <a:t> with strong repeat purchase potential.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9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6">
        <p:fade/>
      </p:transition>
    </mc:Choice>
    <mc:Fallback xmlns="">
      <p:transition spd="med" advTm="36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65728F8-D455-6248-D926-68B1496C5065}"/>
              </a:ext>
            </a:extLst>
          </p:cNvPr>
          <p:cNvSpPr txBox="1"/>
          <p:nvPr/>
        </p:nvSpPr>
        <p:spPr>
          <a:xfrm>
            <a:off x="3004458" y="119743"/>
            <a:ext cx="495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Purchase Amount Behavior</a:t>
            </a:r>
          </a:p>
          <a:p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B9BDF9A-B37B-5FA8-6A71-A422A05D1A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92086"/>
            <a:ext cx="12191999" cy="499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8D80A-F6B8-ADD0-8946-2CAE23BDC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2A8B1B7E-FA76-3B60-085D-BD3D10605597}"/>
              </a:ext>
            </a:extLst>
          </p:cNvPr>
          <p:cNvSpPr txBox="1"/>
          <p:nvPr/>
        </p:nvSpPr>
        <p:spPr>
          <a:xfrm>
            <a:off x="2732315" y="119743"/>
            <a:ext cx="6139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Purchase Amount Behavior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4219F-A645-9C47-5156-034781C772C8}"/>
              </a:ext>
            </a:extLst>
          </p:cNvPr>
          <p:cNvSpPr txBox="1">
            <a:spLocks/>
          </p:cNvSpPr>
          <p:nvPr/>
        </p:nvSpPr>
        <p:spPr>
          <a:xfrm>
            <a:off x="76201" y="766074"/>
            <a:ext cx="121158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Customer spending ranges from </a:t>
            </a:r>
            <a:r>
              <a:rPr lang="en-US" b="1" dirty="0">
                <a:solidFill>
                  <a:schemeClr val="bg1"/>
                </a:solidFill>
              </a:rPr>
              <a:t>very low (≈5)</a:t>
            </a:r>
            <a:r>
              <a:rPr lang="en-US" dirty="0">
                <a:solidFill>
                  <a:schemeClr val="bg1"/>
                </a:solidFill>
              </a:rPr>
              <a:t> to </a:t>
            </a:r>
            <a:r>
              <a:rPr lang="en-US" b="1" dirty="0">
                <a:solidFill>
                  <a:schemeClr val="bg1"/>
                </a:solidFill>
              </a:rPr>
              <a:t>very high (≈99.98)</a:t>
            </a:r>
            <a:r>
              <a:rPr lang="en-US" dirty="0">
                <a:solidFill>
                  <a:schemeClr val="bg1"/>
                </a:solidFill>
              </a:rPr>
              <a:t>, which shows that the business serves </a:t>
            </a:r>
            <a:r>
              <a:rPr lang="en-US" b="1" dirty="0">
                <a:solidFill>
                  <a:schemeClr val="bg1"/>
                </a:solidFill>
              </a:rPr>
              <a:t>different types of customers (low, medium, and high spenders).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Mean = $503.89</a:t>
            </a:r>
            <a:r>
              <a:rPr lang="en-US" dirty="0">
                <a:solidFill>
                  <a:schemeClr val="bg1"/>
                </a:solidFill>
              </a:rPr>
              <a:t> sits almost perfectly at the center of the distribution — confirmed by the </a:t>
            </a:r>
            <a:r>
              <a:rPr lang="en-US" b="1" dirty="0">
                <a:solidFill>
                  <a:schemeClr val="bg1"/>
                </a:solidFill>
              </a:rPr>
              <a:t>dashed blue mean line</a:t>
            </a:r>
            <a:r>
              <a:rPr lang="en-US" dirty="0">
                <a:solidFill>
                  <a:schemeClr val="bg1"/>
                </a:solidFill>
              </a:rPr>
              <a:t> at the midpoint of the X axis indicating near-perfect symmetry.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Every histogram bar shows identical density of 0.001</a:t>
            </a:r>
            <a:r>
              <a:rPr lang="en-US" dirty="0">
                <a:solidFill>
                  <a:schemeClr val="bg1"/>
                </a:solidFill>
              </a:rPr>
              <a:t> — from $0 to $1,000 all bars maintain virtually the same height — confirming a </a:t>
            </a:r>
            <a:r>
              <a:rPr lang="en-US" b="1" dirty="0">
                <a:solidFill>
                  <a:schemeClr val="bg1"/>
                </a:solidFill>
              </a:rPr>
              <a:t>perfectly uniform distribution</a:t>
            </a:r>
            <a:r>
              <a:rPr lang="en-US" dirty="0">
                <a:solidFill>
                  <a:schemeClr val="bg1"/>
                </a:solidFill>
              </a:rPr>
              <a:t> where every spending level is equally likely.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−1 SD boundary = $217.65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+1 SD boundary = $790.13</a:t>
            </a:r>
            <a:r>
              <a:rPr lang="en-US" dirty="0">
                <a:solidFill>
                  <a:schemeClr val="bg1"/>
                </a:solidFill>
              </a:rPr>
              <a:t> — a spread of </a:t>
            </a:r>
            <a:r>
              <a:rPr lang="en-US" b="1" dirty="0">
                <a:solidFill>
                  <a:schemeClr val="bg1"/>
                </a:solidFill>
              </a:rPr>
              <a:t>$572.48</a:t>
            </a:r>
            <a:r>
              <a:rPr lang="en-US" dirty="0">
                <a:solidFill>
                  <a:schemeClr val="bg1"/>
                </a:solidFill>
              </a:rPr>
              <a:t> — indicating extremely wide customer spending variance of </a:t>
            </a:r>
            <a:r>
              <a:rPr lang="en-US" b="1" dirty="0">
                <a:solidFill>
                  <a:schemeClr val="bg1"/>
                </a:solidFill>
              </a:rPr>
              <a:t>$286.24 standard deviation.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Zero outliers detected</a:t>
            </a:r>
            <a:r>
              <a:rPr lang="en-US" dirty="0">
                <a:solidFill>
                  <a:schemeClr val="bg1"/>
                </a:solidFill>
              </a:rPr>
              <a:t> beyond Z-score ±2 Which is means </a:t>
            </a:r>
            <a:r>
              <a:rPr lang="en-US" b="1" dirty="0">
                <a:solidFill>
                  <a:schemeClr val="bg1"/>
                </a:solidFill>
              </a:rPr>
              <a:t>no VIP or whale customers exist.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Pricing tiers should be built around IQR ($255—$749)</a:t>
            </a:r>
            <a:r>
              <a:rPr lang="en-US" dirty="0">
                <a:solidFill>
                  <a:schemeClr val="bg1"/>
                </a:solidFill>
              </a:rPr>
              <a:t> — this is where </a:t>
            </a:r>
            <a:r>
              <a:rPr lang="en-US" b="1" dirty="0">
                <a:solidFill>
                  <a:schemeClr val="bg1"/>
                </a:solidFill>
              </a:rPr>
              <a:t>50% of customers naturally spend</a:t>
            </a:r>
            <a:r>
              <a:rPr lang="en-US" dirty="0">
                <a:solidFill>
                  <a:schemeClr val="bg1"/>
                </a:solidFill>
              </a:rPr>
              <a:t> — any product priced within this band has the highest probability of conversion — products below $255 or above $749 require additional marketing justification.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Average spend of $503.89 per transaction</a:t>
            </a:r>
            <a:r>
              <a:rPr lang="en-US" dirty="0">
                <a:solidFill>
                  <a:schemeClr val="bg1"/>
                </a:solidFill>
              </a:rPr>
              <a:t> is the business baseline — any marketing campaign, discount offer or loyalty programme should target </a:t>
            </a:r>
            <a:r>
              <a:rPr lang="en-US" b="1" dirty="0">
                <a:solidFill>
                  <a:schemeClr val="bg1"/>
                </a:solidFill>
              </a:rPr>
              <a:t>lifting customers above this threshold</a:t>
            </a:r>
            <a:r>
              <a:rPr lang="en-US" dirty="0">
                <a:solidFill>
                  <a:schemeClr val="bg1"/>
                </a:solidFill>
              </a:rPr>
              <a:t> — even a 10% uplift per customer would add </a:t>
            </a:r>
            <a:r>
              <a:rPr lang="en-US" b="1" dirty="0">
                <a:solidFill>
                  <a:schemeClr val="bg1"/>
                </a:solidFill>
              </a:rPr>
              <a:t>$50 per transaction × 10,000 customers = $500,000 additional annual revenue.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58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104B8-D426-D206-E691-F762824B1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D9B58A5B-A115-A444-8F57-4EE858F567F3}"/>
              </a:ext>
            </a:extLst>
          </p:cNvPr>
          <p:cNvSpPr txBox="1"/>
          <p:nvPr/>
        </p:nvSpPr>
        <p:spPr>
          <a:xfrm>
            <a:off x="3026228" y="0"/>
            <a:ext cx="6139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Product Category Performance</a:t>
            </a:r>
          </a:p>
          <a:p>
            <a:endParaRPr lang="en-US" dirty="0"/>
          </a:p>
        </p:txBody>
      </p:sp>
      <p:pic>
        <p:nvPicPr>
          <p:cNvPr id="4097" name="Picture 1" descr="Product Category Performance">
            <a:extLst>
              <a:ext uri="{FF2B5EF4-FFF2-40B4-BE49-F238E27FC236}">
                <a16:creationId xmlns:a16="http://schemas.microsoft.com/office/drawing/2014/main" id="{5B8AE7A2-4CB8-289F-5312-58822ADF0E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2966"/>
            <a:ext cx="4636008" cy="369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E55E2E-5773-7888-FF49-5AB978CA25A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00600" y="937804"/>
            <a:ext cx="73914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Toys Leads the Volume:</a:t>
            </a:r>
            <a:r>
              <a:rPr lang="en-US" sz="1600" dirty="0">
                <a:solidFill>
                  <a:schemeClr val="bg1"/>
                </a:solidFill>
              </a:rPr>
              <a:t> The top-performing category is </a:t>
            </a:r>
            <a:r>
              <a:rPr lang="en-US" sz="1600" b="1" dirty="0">
                <a:solidFill>
                  <a:schemeClr val="bg1"/>
                </a:solidFill>
              </a:rPr>
              <a:t>Toys with 6,580 purchases</a:t>
            </a:r>
            <a:r>
              <a:rPr lang="en-US" sz="1600" dirty="0">
                <a:solidFill>
                  <a:schemeClr val="bg1"/>
                </a:solidFill>
              </a:rPr>
              <a:t>, holding a slight edge at the top of the chart.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Stable Mid-Tier Performers:</a:t>
            </a:r>
            <a:r>
              <a:rPr lang="en-US" sz="1600" dirty="0">
                <a:solidFill>
                  <a:schemeClr val="bg1"/>
                </a:solidFill>
              </a:rPr>
              <a:t> Categories like </a:t>
            </a:r>
            <a:r>
              <a:rPr lang="en-US" sz="1600" b="1" dirty="0">
                <a:solidFill>
                  <a:schemeClr val="bg1"/>
                </a:solidFill>
              </a:rPr>
              <a:t>Books (6,533)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b="1" dirty="0">
                <a:solidFill>
                  <a:schemeClr val="bg1"/>
                </a:solidFill>
              </a:rPr>
              <a:t>Electronics (6,469)</a:t>
            </a:r>
            <a:r>
              <a:rPr lang="en-US" sz="1600" dirty="0">
                <a:solidFill>
                  <a:schemeClr val="bg1"/>
                </a:solidFill>
              </a:rPr>
              <a:t>, and </a:t>
            </a:r>
            <a:r>
              <a:rPr lang="en-US" sz="1600" b="1" dirty="0">
                <a:solidFill>
                  <a:schemeClr val="bg1"/>
                </a:solidFill>
              </a:rPr>
              <a:t>Clothing (6,359)</a:t>
            </a:r>
            <a:r>
              <a:rPr lang="en-US" sz="1600" dirty="0">
                <a:solidFill>
                  <a:schemeClr val="bg1"/>
                </a:solidFill>
              </a:rPr>
              <a:t> follow in a highly competitive, tight cluster.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Sports Trails the Pack:</a:t>
            </a:r>
            <a:r>
              <a:rPr lang="en-US" sz="1600" dirty="0">
                <a:solidFill>
                  <a:schemeClr val="bg1"/>
                </a:solidFill>
              </a:rPr>
              <a:t> The lowest-performing category is </a:t>
            </a:r>
            <a:r>
              <a:rPr lang="en-US" sz="1600" b="1" dirty="0">
                <a:solidFill>
                  <a:schemeClr val="bg1"/>
                </a:solidFill>
              </a:rPr>
              <a:t>Sports with 5,706 purchases</a:t>
            </a:r>
            <a:r>
              <a:rPr lang="en-US" sz="1600" dirty="0">
                <a:solidFill>
                  <a:schemeClr val="bg1"/>
                </a:solidFill>
              </a:rPr>
              <a:t>, marking the only category to dip below the 6,000 threshold.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Extremely Tight Variance:</a:t>
            </a:r>
            <a:r>
              <a:rPr lang="en-US" sz="1600" dirty="0">
                <a:solidFill>
                  <a:schemeClr val="bg1"/>
                </a:solidFill>
              </a:rPr>
              <a:t> Across a total volume of </a:t>
            </a:r>
            <a:r>
              <a:rPr lang="en-US" sz="1600" b="1" dirty="0">
                <a:solidFill>
                  <a:schemeClr val="bg1"/>
                </a:solidFill>
              </a:rPr>
              <a:t>49985 purchases</a:t>
            </a:r>
            <a:r>
              <a:rPr lang="en-US" sz="1600" dirty="0">
                <a:solidFill>
                  <a:schemeClr val="bg1"/>
                </a:solidFill>
              </a:rPr>
              <a:t> spread among 8 categories, the maximum gap between the highest-performing category (Toys: 6,580) and the lowest (Sports: 5,706) is only </a:t>
            </a:r>
            <a:r>
              <a:rPr lang="en-US" sz="1600" b="1" dirty="0">
                <a:solidFill>
                  <a:schemeClr val="bg1"/>
                </a:solidFill>
              </a:rPr>
              <a:t>874 purchases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No Standout Flagship Category: Because Purchase volumes are split so evenly across the board, the business cannot rely on a single "hero product category" to drive revenue or customer acquisition.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Since consumer interest is spread evenly across diverse segment from Toys to Sports promotional campaigns and cross-selling bundles have a uniformly high probability of engagement regardless of the target category.</a:t>
            </a: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00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049" name="Picture 1" descr="Review Score By Total Customer">
            <a:extLst>
              <a:ext uri="{FF2B5EF4-FFF2-40B4-BE49-F238E27FC236}">
                <a16:creationId xmlns:a16="http://schemas.microsoft.com/office/drawing/2014/main" id="{E8E01DF6-C25E-C661-F5AC-23B18D12D9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28058"/>
            <a:ext cx="4636008" cy="444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E56F6F-3CAF-3F69-4C38-18AFB813B8A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43263" y="0"/>
            <a:ext cx="8105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Customer Demographics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82EBA-5766-9994-CE59-4028A27C98E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029201" y="794266"/>
            <a:ext cx="716279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Review scores are distributed across </a:t>
            </a:r>
            <a:r>
              <a:rPr lang="en-US" sz="1400" b="1" dirty="0">
                <a:solidFill>
                  <a:schemeClr val="bg1"/>
                </a:solidFill>
              </a:rPr>
              <a:t>5 rating levels (1 to 5)</a:t>
            </a:r>
            <a:r>
              <a:rPr lang="en-US" sz="1400" dirty="0">
                <a:solidFill>
                  <a:schemeClr val="bg1"/>
                </a:solidFill>
              </a:rPr>
              <a:t> with a total of </a:t>
            </a:r>
            <a:r>
              <a:rPr lang="en-US" sz="1400" b="1" dirty="0">
                <a:solidFill>
                  <a:schemeClr val="bg1"/>
                </a:solidFill>
              </a:rPr>
              <a:t>10,000 customer reviews</a:t>
            </a:r>
            <a:r>
              <a:rPr lang="en-US" sz="1400" dirty="0">
                <a:solidFill>
                  <a:schemeClr val="bg1"/>
                </a:solidFill>
              </a:rPr>
              <a:t> — each score level capturing approximately </a:t>
            </a:r>
            <a:r>
              <a:rPr lang="en-US" sz="1400" b="1" dirty="0">
                <a:solidFill>
                  <a:schemeClr val="bg1"/>
                </a:solidFill>
              </a:rPr>
              <a:t>20% of all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Score 4 leads with 2,079 customers (20.79%)</a:t>
            </a:r>
            <a:r>
              <a:rPr lang="en-US" sz="1400" dirty="0">
                <a:solidFill>
                  <a:schemeClr val="bg1"/>
                </a:solidFill>
              </a:rPr>
              <a:t> — the highest single rating count — suggesting a slight positive lean in customer sentiment however the margin over other scores is negligible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Score 2 ranks second with 2,020 customers (20.20%)</a:t>
            </a:r>
            <a:r>
              <a:rPr lang="en-US" sz="1400" dirty="0">
                <a:solidFill>
                  <a:schemeClr val="bg1"/>
                </a:solidFill>
              </a:rPr>
              <a:t> — surprisingly close to Score 4 — indicating the customer base is </a:t>
            </a:r>
            <a:r>
              <a:rPr lang="en-US" sz="1400" b="1" dirty="0">
                <a:solidFill>
                  <a:schemeClr val="bg1"/>
                </a:solidFill>
              </a:rPr>
              <a:t>simultaneously satisfied and dissatisfied</a:t>
            </a:r>
            <a:r>
              <a:rPr lang="en-US" sz="1400" dirty="0">
                <a:solidFill>
                  <a:schemeClr val="bg1"/>
                </a:solidFill>
              </a:rPr>
              <a:t> in almost equal measure with no clear dominant sentiment.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Score 3 (Neutral) records 1,997 customers (19.97%)</a:t>
            </a:r>
            <a:r>
              <a:rPr lang="en-US" sz="1400" dirty="0">
                <a:solidFill>
                  <a:schemeClr val="bg1"/>
                </a:solidFill>
              </a:rPr>
              <a:t> — nearly one-fifth of all customers rate their experience as completely neutral — neither positive nor negative — signaling a large </a:t>
            </a:r>
            <a:r>
              <a:rPr lang="en-US" sz="1400" b="1" dirty="0">
                <a:solidFill>
                  <a:schemeClr val="bg1"/>
                </a:solidFill>
              </a:rPr>
              <a:t>undecided customer segment</a:t>
            </a:r>
            <a:r>
              <a:rPr lang="en-US" sz="1400" dirty="0">
                <a:solidFill>
                  <a:schemeClr val="bg1"/>
                </a:solidFill>
              </a:rPr>
              <a:t> with conversion potential.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Score 1 (Worst) captures 1,979 customers (19.79%)</a:t>
            </a:r>
            <a:r>
              <a:rPr lang="en-US" sz="1400" dirty="0">
                <a:solidFill>
                  <a:schemeClr val="bg1"/>
                </a:solidFill>
              </a:rPr>
              <a:t> — almost identical to Score 5 — meaning </a:t>
            </a:r>
            <a:r>
              <a:rPr lang="en-US" sz="1400" b="1" dirty="0">
                <a:solidFill>
                  <a:schemeClr val="bg1"/>
                </a:solidFill>
              </a:rPr>
              <a:t>as many customers are completely dissatisfied as are completely satisfied</a:t>
            </a:r>
            <a:r>
              <a:rPr lang="en-US" sz="1400" dirty="0">
                <a:solidFill>
                  <a:schemeClr val="bg1"/>
                </a:solidFill>
              </a:rPr>
              <a:t> — a deeply concerning balance for long-term business health.</a:t>
            </a:r>
            <a:endParaRPr lang="en-U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1,979 customers rating Score 1</a:t>
            </a:r>
            <a:r>
              <a:rPr lang="en-US" sz="1400" dirty="0">
                <a:solidFill>
                  <a:schemeClr val="bg1"/>
                </a:solidFill>
              </a:rPr>
              <a:t> represents a serious churn risk.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Equal distribution across all 5 scores</a:t>
            </a:r>
            <a:r>
              <a:rPr lang="en-US" sz="1400" dirty="0">
                <a:solidFill>
                  <a:schemeClr val="bg1"/>
                </a:solidFill>
              </a:rPr>
              <a:t> in synthetic data masks a critical need — the business must implement </a:t>
            </a:r>
            <a:r>
              <a:rPr lang="en-US" sz="1400" b="1" dirty="0">
                <a:solidFill>
                  <a:schemeClr val="bg1"/>
                </a:solidFill>
              </a:rPr>
              <a:t>genuine review collection and sentiment analysis</a:t>
            </a:r>
            <a:r>
              <a:rPr lang="en-US" sz="1400" dirty="0">
                <a:solidFill>
                  <a:schemeClr val="bg1"/>
                </a:solidFill>
              </a:rPr>
              <a:t> to understand true customer satisfaction drivers before designing improvement strategies.</a:t>
            </a:r>
            <a:endParaRPr lang="en-US" sz="1400" b="1" dirty="0">
              <a:solidFill>
                <a:schemeClr val="bg1"/>
              </a:solidFill>
            </a:endParaRP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543B9-5613-42A2-0D8D-137CA93B1D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6829" y="609600"/>
            <a:ext cx="3254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Avg Review : 3</a:t>
            </a: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7BEC7-EB8C-1989-036E-6E01734B6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539C70-FC46-3327-E322-8BF9FB09624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85600" y="6315075"/>
            <a:ext cx="406400" cy="365125"/>
          </a:xfrm>
        </p:spPr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392991-2E7D-B334-FD09-851CAD7570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15816" y="0"/>
            <a:ext cx="8105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Customer Demographics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DA2DF-517E-C861-3ACF-4A362E2095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78829" y="891438"/>
            <a:ext cx="729691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Premium leads with 3,369 customers (33.69%)</a:t>
            </a:r>
            <a:r>
              <a:rPr lang="en-US" dirty="0">
                <a:solidFill>
                  <a:schemeClr val="bg1"/>
                </a:solidFill>
              </a:rPr>
              <a:t> — the highest share among all three tiers but only marginally ahead of the other two.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Free ranks second with 3,354 customers (33.54%)</a:t>
            </a:r>
            <a:r>
              <a:rPr lang="en-US" dirty="0">
                <a:solidFill>
                  <a:schemeClr val="bg1"/>
                </a:solidFill>
              </a:rPr>
              <a:t> — a difference of only </a:t>
            </a:r>
            <a:r>
              <a:rPr lang="en-US" b="1" dirty="0">
                <a:solidFill>
                  <a:schemeClr val="bg1"/>
                </a:solidFill>
              </a:rPr>
              <a:t>15 customers</a:t>
            </a:r>
            <a:r>
              <a:rPr lang="en-US" dirty="0">
                <a:solidFill>
                  <a:schemeClr val="bg1"/>
                </a:solidFill>
              </a:rPr>
              <a:t> separating it from Premium status.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Trial records 3,277 customers (32.77%)</a:t>
            </a:r>
            <a:r>
              <a:rPr lang="en-US" dirty="0">
                <a:solidFill>
                  <a:schemeClr val="bg1"/>
                </a:solidFill>
              </a:rPr>
              <a:t> — the lowest share but still within </a:t>
            </a:r>
            <a:r>
              <a:rPr lang="en-US" b="1" dirty="0">
                <a:solidFill>
                  <a:schemeClr val="bg1"/>
                </a:solidFill>
              </a:rPr>
              <a:t>92 customers</a:t>
            </a:r>
            <a:r>
              <a:rPr lang="en-US" dirty="0">
                <a:solidFill>
                  <a:schemeClr val="bg1"/>
                </a:solidFill>
              </a:rPr>
              <a:t> of the leading Premium segment.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maximum gap between the highest (Premium 33.69%) and lowest (Trial 32.77%) subscription status is only </a:t>
            </a:r>
            <a:r>
              <a:rPr lang="en-US" b="1" dirty="0">
                <a:solidFill>
                  <a:schemeClr val="bg1"/>
                </a:solidFill>
              </a:rPr>
              <a:t>0.92 percentage.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Conversion Opportunity:</a:t>
            </a:r>
            <a:r>
              <a:rPr lang="en-US" dirty="0">
                <a:solidFill>
                  <a:schemeClr val="bg1"/>
                </a:solidFill>
              </a:rPr>
              <a:t> Around 66.31% of users are still non-paying (Free + Trial), creating strong potential for conversion-focused marketing.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Even Tier Weighting:</a:t>
            </a:r>
            <a:r>
              <a:rPr lang="en-US" dirty="0">
                <a:solidFill>
                  <a:schemeClr val="bg1"/>
                </a:solidFill>
              </a:rPr>
              <a:t> No single subscription tier dominates the platform. Operational, customer support, and product engagement efforts must be balanced equally across all three segments to ensure a seamless lifecycle progression from Trial to Premium.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BCB29-2578-3081-F922-794474FE00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137" y="1310629"/>
            <a:ext cx="4636008" cy="42737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6CB5E8-29F7-639C-C570-EDB1AB5B03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3028" y="553700"/>
            <a:ext cx="3465576" cy="923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How many customers are subscribed to the service?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15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6">
        <p:fade/>
      </p:transition>
    </mc:Choice>
    <mc:Fallback xmlns="">
      <p:transition spd="med" advTm="36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22CB4-23C0-0E54-4EEB-82641267B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1EB26B-1B31-8BFA-3F82-6D52B7E5987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85600" y="6315075"/>
            <a:ext cx="406400" cy="365125"/>
          </a:xfrm>
        </p:spPr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B194CD-9100-3C4B-9711-316B55F8F2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43263" y="0"/>
            <a:ext cx="8105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Customer Demographics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3644DC-18CC-BAEA-49FF-1E79DB0C950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57057" y="620485"/>
            <a:ext cx="730049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Mobile</a:t>
            </a:r>
            <a:r>
              <a:rPr lang="en-US" dirty="0">
                <a:solidFill>
                  <a:schemeClr val="bg1"/>
                </a:solidFill>
              </a:rPr>
              <a:t> leads with </a:t>
            </a:r>
            <a:r>
              <a:rPr lang="en-US" b="1" dirty="0">
                <a:solidFill>
                  <a:schemeClr val="bg1"/>
                </a:solidFill>
              </a:rPr>
              <a:t>3,374 customers (33.74%)</a:t>
            </a:r>
            <a:r>
              <a:rPr lang="en-US" dirty="0">
                <a:solidFill>
                  <a:schemeClr val="bg1"/>
                </a:solidFill>
              </a:rPr>
              <a:t> — the highest share among all three devices but only marginally ahead of the other two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Desktop</a:t>
            </a:r>
            <a:r>
              <a:rPr lang="en-US" dirty="0">
                <a:solidFill>
                  <a:schemeClr val="bg1"/>
                </a:solidFill>
              </a:rPr>
              <a:t> ranks second with </a:t>
            </a:r>
            <a:r>
              <a:rPr lang="en-US" b="1" dirty="0">
                <a:solidFill>
                  <a:schemeClr val="bg1"/>
                </a:solidFill>
              </a:rPr>
              <a:t>3,348 customers (33.48%)</a:t>
            </a:r>
            <a:r>
              <a:rPr lang="en-US" dirty="0">
                <a:solidFill>
                  <a:schemeClr val="bg1"/>
                </a:solidFill>
              </a:rPr>
              <a:t> — a difference of only </a:t>
            </a:r>
            <a:r>
              <a:rPr lang="en-US" b="1" dirty="0">
                <a:solidFill>
                  <a:schemeClr val="bg1"/>
                </a:solidFill>
              </a:rPr>
              <a:t>26 customers</a:t>
            </a:r>
            <a:r>
              <a:rPr lang="en-US" dirty="0">
                <a:solidFill>
                  <a:schemeClr val="bg1"/>
                </a:solidFill>
              </a:rPr>
              <a:t> separating it from Mobile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Tablet</a:t>
            </a:r>
            <a:r>
              <a:rPr lang="en-US" dirty="0">
                <a:solidFill>
                  <a:schemeClr val="bg1"/>
                </a:solidFill>
              </a:rPr>
              <a:t> records </a:t>
            </a:r>
            <a:r>
              <a:rPr lang="en-US" b="1" dirty="0">
                <a:solidFill>
                  <a:schemeClr val="bg1"/>
                </a:solidFill>
              </a:rPr>
              <a:t>3,278 customers (32.78%)</a:t>
            </a:r>
            <a:r>
              <a:rPr lang="en-US" dirty="0">
                <a:solidFill>
                  <a:schemeClr val="bg1"/>
                </a:solidFill>
              </a:rPr>
              <a:t> — the lowest share but still within </a:t>
            </a:r>
            <a:r>
              <a:rPr lang="en-US" b="1" dirty="0">
                <a:solidFill>
                  <a:schemeClr val="bg1"/>
                </a:solidFill>
              </a:rPr>
              <a:t>96 customers</a:t>
            </a:r>
            <a:r>
              <a:rPr lang="en-US" dirty="0">
                <a:solidFill>
                  <a:schemeClr val="bg1"/>
                </a:solidFill>
              </a:rPr>
              <a:t> of the leading Mobile segment.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maximum gap between highest (Mobile 33.74%) and lowest (Tablet 32.78%) device usage is only </a:t>
            </a:r>
            <a:r>
              <a:rPr lang="en-US" b="1" dirty="0">
                <a:solidFill>
                  <a:schemeClr val="bg1"/>
                </a:solidFill>
              </a:rPr>
              <a:t>0.96 percentage points</a:t>
            </a:r>
            <a:r>
              <a:rPr lang="en-US" dirty="0">
                <a:solidFill>
                  <a:schemeClr val="bg1"/>
                </a:solidFill>
              </a:rPr>
              <a:t> — confirming </a:t>
            </a:r>
            <a:r>
              <a:rPr lang="en-US" b="1" dirty="0">
                <a:solidFill>
                  <a:schemeClr val="bg1"/>
                </a:solidFill>
              </a:rPr>
              <a:t>near-perfect uniform distribution</a:t>
            </a:r>
            <a:r>
              <a:rPr lang="en-US" dirty="0">
                <a:solidFill>
                  <a:schemeClr val="bg1"/>
                </a:solidFill>
              </a:rPr>
              <a:t> across all channels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Business implication → Equal distribution across all three devices demands a </a:t>
            </a:r>
            <a:r>
              <a:rPr lang="en-US" b="1" dirty="0">
                <a:solidFill>
                  <a:schemeClr val="bg1"/>
                </a:solidFill>
              </a:rPr>
              <a:t>fully responsive cross-platform strategy</a:t>
            </a:r>
            <a:r>
              <a:rPr lang="en-US" dirty="0">
                <a:solidFill>
                  <a:schemeClr val="bg1"/>
                </a:solidFill>
              </a:rPr>
              <a:t> — no single channel can be prioritized over others without risking customer experience for one-third of the user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Strategic recommendation → Invest </a:t>
            </a:r>
            <a:r>
              <a:rPr lang="en-US" b="1" dirty="0">
                <a:solidFill>
                  <a:schemeClr val="bg1"/>
                </a:solidFill>
              </a:rPr>
              <a:t>equally in Mobile, Desktop and Tablet</a:t>
            </a:r>
            <a:r>
              <a:rPr lang="en-US" dirty="0">
                <a:solidFill>
                  <a:schemeClr val="bg1"/>
                </a:solidFill>
              </a:rPr>
              <a:t> UX optimization — any channel-specific neglect would directly impact approximately </a:t>
            </a:r>
            <a:r>
              <a:rPr lang="en-US" b="1" dirty="0">
                <a:solidFill>
                  <a:schemeClr val="bg1"/>
                </a:solidFill>
              </a:rPr>
              <a:t>3,300 customers (33%)</a:t>
            </a:r>
            <a:r>
              <a:rPr lang="en-US" dirty="0">
                <a:solidFill>
                  <a:schemeClr val="bg1"/>
                </a:solidFill>
              </a:rPr>
              <a:t> of the total base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E1E561-5CE8-0711-0D7E-2230EBE8A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7542"/>
            <a:ext cx="4636748" cy="44740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6B308B-54AA-C9CD-DB0E-6FD8B7BC39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4446" y="473649"/>
            <a:ext cx="3468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percentage of customers used devices to make purchases?</a:t>
            </a:r>
          </a:p>
        </p:txBody>
      </p:sp>
    </p:spTree>
    <p:extLst>
      <p:ext uri="{BB962C8B-B14F-4D97-AF65-F5344CB8AC3E}">
        <p14:creationId xmlns:p14="http://schemas.microsoft.com/office/powerpoint/2010/main" val="2218828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6">
        <p:fade/>
      </p:transition>
    </mc:Choice>
    <mc:Fallback xmlns="">
      <p:transition spd="med" advTm="36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D4FFF-55F4-34D3-895E-8C12594B1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5B4DFE-0215-0124-7E45-1E1791F817F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85600" y="6315075"/>
            <a:ext cx="406400" cy="365125"/>
          </a:xfrm>
        </p:spPr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70597A-041A-7815-22C0-5F0334A1D885}"/>
              </a:ext>
            </a:extLst>
          </p:cNvPr>
          <p:cNvSpPr txBox="1">
            <a:spLocks/>
          </p:cNvSpPr>
          <p:nvPr/>
        </p:nvSpPr>
        <p:spPr>
          <a:xfrm>
            <a:off x="0" y="16661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What is the average purchase amount for customers who availed discounts compared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to those who didn't?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78EFB5-28D5-71DE-6ACC-796B20087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4144"/>
            <a:ext cx="5540829" cy="44304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21FFB6-3D35-1EC2-95CE-5127FC5BCB3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02086" y="1034144"/>
            <a:ext cx="6389914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Customers with discounts</a:t>
            </a:r>
            <a:r>
              <a:rPr lang="en-US" sz="1600" dirty="0">
                <a:solidFill>
                  <a:schemeClr val="bg1"/>
                </a:solidFill>
              </a:rPr>
              <a:t> spent an average of </a:t>
            </a:r>
            <a:r>
              <a:rPr lang="en-US" sz="1600" b="1" dirty="0">
                <a:solidFill>
                  <a:schemeClr val="bg1"/>
                </a:solidFill>
              </a:rPr>
              <a:t>$505.26 (Mean)</a:t>
            </a:r>
            <a:r>
              <a:rPr lang="en-US" sz="1600" dirty="0">
                <a:solidFill>
                  <a:schemeClr val="bg1"/>
                </a:solidFill>
              </a:rPr>
              <a:t> with a median of </a:t>
            </a:r>
            <a:r>
              <a:rPr lang="en-US" sz="1600" b="1" dirty="0">
                <a:solidFill>
                  <a:schemeClr val="bg1"/>
                </a:solidFill>
              </a:rPr>
              <a:t>$507.40</a:t>
            </a:r>
            <a:r>
              <a:rPr lang="en-US" sz="1600" dirty="0">
                <a:solidFill>
                  <a:schemeClr val="bg1"/>
                </a:solidFill>
              </a:rPr>
              <a:t> — while </a:t>
            </a:r>
            <a:r>
              <a:rPr lang="en-US" sz="1600" b="1" dirty="0">
                <a:solidFill>
                  <a:schemeClr val="bg1"/>
                </a:solidFill>
              </a:rPr>
              <a:t>customers without discounts</a:t>
            </a:r>
            <a:r>
              <a:rPr lang="en-US" sz="1600" dirty="0">
                <a:solidFill>
                  <a:schemeClr val="bg1"/>
                </a:solidFill>
              </a:rPr>
              <a:t> spent </a:t>
            </a:r>
            <a:r>
              <a:rPr lang="en-US" sz="1600" b="1" dirty="0">
                <a:solidFill>
                  <a:schemeClr val="bg1"/>
                </a:solidFill>
              </a:rPr>
              <a:t>$502.51 (Mean)</a:t>
            </a:r>
            <a:r>
              <a:rPr lang="en-US" sz="1600" dirty="0">
                <a:solidFill>
                  <a:schemeClr val="bg1"/>
                </a:solidFill>
              </a:rPr>
              <a:t> with a median of </a:t>
            </a:r>
            <a:r>
              <a:rPr lang="en-US" sz="1600" b="1" dirty="0">
                <a:solidFill>
                  <a:schemeClr val="bg1"/>
                </a:solidFill>
              </a:rPr>
              <a:t>$504.78</a:t>
            </a:r>
            <a:r>
              <a:rPr lang="en-US" sz="1600" dirty="0">
                <a:solidFill>
                  <a:schemeClr val="bg1"/>
                </a:solidFill>
              </a:rPr>
              <a:t> a difference of only </a:t>
            </a:r>
            <a:r>
              <a:rPr lang="en-US" sz="1600" b="1" dirty="0">
                <a:solidFill>
                  <a:schemeClr val="bg1"/>
                </a:solidFill>
              </a:rPr>
              <a:t>$2.75 in mean</a:t>
            </a:r>
            <a:r>
              <a:rPr lang="en-US" sz="1600" dirty="0">
                <a:solidFill>
                  <a:schemeClr val="bg1"/>
                </a:solidFill>
              </a:rPr>
              <a:t> and </a:t>
            </a:r>
            <a:r>
              <a:rPr lang="en-US" sz="1600" b="1" dirty="0">
                <a:solidFill>
                  <a:schemeClr val="bg1"/>
                </a:solidFill>
              </a:rPr>
              <a:t>$2.62 in median</a:t>
            </a:r>
            <a:r>
              <a:rPr lang="en-US" sz="1600" dirty="0">
                <a:solidFill>
                  <a:schemeClr val="bg1"/>
                </a:solidFill>
              </a:rPr>
              <a:t> across 10,000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Q1 comparison</a:t>
            </a:r>
            <a:r>
              <a:rPr lang="en-US" sz="1600" dirty="0">
                <a:solidFill>
                  <a:schemeClr val="bg1"/>
                </a:solidFill>
              </a:rPr>
              <a:t> reveals discount customers enter the spending range at </a:t>
            </a:r>
            <a:r>
              <a:rPr lang="en-US" sz="1600" b="1" dirty="0">
                <a:solidFill>
                  <a:schemeClr val="bg1"/>
                </a:solidFill>
              </a:rPr>
              <a:t>$259.51</a:t>
            </a:r>
            <a:r>
              <a:rPr lang="en-US" sz="1600" dirty="0">
                <a:solidFill>
                  <a:schemeClr val="bg1"/>
                </a:solidFill>
              </a:rPr>
              <a:t> versus non-discount customers at </a:t>
            </a:r>
            <a:r>
              <a:rPr lang="en-US" sz="1600" b="1" dirty="0">
                <a:solidFill>
                  <a:schemeClr val="bg1"/>
                </a:solidFill>
              </a:rPr>
              <a:t>$250.68</a:t>
            </a:r>
            <a:r>
              <a:rPr lang="en-US" sz="1600" dirty="0">
                <a:solidFill>
                  <a:schemeClr val="bg1"/>
                </a:solidFill>
              </a:rPr>
              <a:t>  a gap of only </a:t>
            </a:r>
            <a:r>
              <a:rPr lang="en-US" sz="1600" b="1" dirty="0">
                <a:solidFill>
                  <a:schemeClr val="bg1"/>
                </a:solidFill>
              </a:rPr>
              <a:t>$8.83</a:t>
            </a:r>
            <a:r>
              <a:rPr lang="en-US" sz="1600" dirty="0">
                <a:solidFill>
                  <a:schemeClr val="bg1"/>
                </a:solidFill>
              </a:rPr>
              <a:t> at the lower spending boundary  confirming discounts provide no meaningful uplift even among the lowest spenders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Q3 comparison</a:t>
            </a:r>
            <a:r>
              <a:rPr lang="en-US" sz="1600" dirty="0">
                <a:solidFill>
                  <a:schemeClr val="bg1"/>
                </a:solidFill>
              </a:rPr>
              <a:t> shows discount customers reach </a:t>
            </a:r>
            <a:r>
              <a:rPr lang="en-US" sz="1600" b="1" dirty="0">
                <a:solidFill>
                  <a:schemeClr val="bg1"/>
                </a:solidFill>
              </a:rPr>
              <a:t>$750.59</a:t>
            </a:r>
            <a:r>
              <a:rPr lang="en-US" sz="1600" dirty="0">
                <a:solidFill>
                  <a:schemeClr val="bg1"/>
                </a:solidFill>
              </a:rPr>
              <a:t> at the upper spending boundary versus </a:t>
            </a:r>
            <a:r>
              <a:rPr lang="en-US" sz="1600" b="1" dirty="0">
                <a:solidFill>
                  <a:schemeClr val="bg1"/>
                </a:solidFill>
              </a:rPr>
              <a:t>$748.18</a:t>
            </a:r>
            <a:r>
              <a:rPr lang="en-US" sz="1600" dirty="0">
                <a:solidFill>
                  <a:schemeClr val="bg1"/>
                </a:solidFill>
              </a:rPr>
              <a:t> for non-discount customers, a difference of just </a:t>
            </a:r>
            <a:r>
              <a:rPr lang="en-US" sz="1600" b="1" dirty="0">
                <a:solidFill>
                  <a:schemeClr val="bg1"/>
                </a:solidFill>
              </a:rPr>
              <a:t>$2.41</a:t>
            </a:r>
            <a:r>
              <a:rPr lang="en-US" sz="1600" dirty="0">
                <a:solidFill>
                  <a:schemeClr val="bg1"/>
                </a:solidFill>
              </a:rPr>
              <a:t> confirming that even high-spending customers are </a:t>
            </a:r>
            <a:r>
              <a:rPr lang="en-US" sz="1600" b="1" dirty="0">
                <a:solidFill>
                  <a:schemeClr val="bg1"/>
                </a:solidFill>
              </a:rPr>
              <a:t>not influenced by discount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Both groups share identical whisker range of approximately $0 to $1,000</a:t>
            </a:r>
            <a:r>
              <a:rPr lang="en-US" sz="1600" dirty="0">
                <a:solidFill>
                  <a:schemeClr val="bg1"/>
                </a:solidFill>
              </a:rPr>
              <a:t>  the full spread of purchase amounts is virtually identical between discounted and non-discounted customers  meaning discount usage has </a:t>
            </a:r>
            <a:r>
              <a:rPr lang="en-US" sz="1600" b="1" dirty="0">
                <a:solidFill>
                  <a:schemeClr val="bg1"/>
                </a:solidFill>
              </a:rPr>
              <a:t>zero influence on the overall spending range or distribution shape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635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6">
        <p:fade/>
      </p:transition>
    </mc:Choice>
    <mc:Fallback xmlns="">
      <p:transition spd="med" advTm="36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60D97-88CF-7823-FC90-47BDC0DA8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84474A-E8CE-C5D5-EF2E-6464DC83C9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85600" y="6315075"/>
            <a:ext cx="406400" cy="365125"/>
          </a:xfrm>
        </p:spPr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4A8FB5-EE3D-B486-75CD-7672910445D4}"/>
              </a:ext>
            </a:extLst>
          </p:cNvPr>
          <p:cNvSpPr txBox="1">
            <a:spLocks/>
          </p:cNvSpPr>
          <p:nvPr/>
        </p:nvSpPr>
        <p:spPr>
          <a:xfrm>
            <a:off x="0" y="16661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What is the average purchase amount for customers who availed discounts compared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to those who didn't?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47716F-D916-0E33-EAB1-38F7F9C98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1389"/>
            <a:ext cx="4669971" cy="44348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C6EA08-CDD3-1104-8C81-8196DDF0DF6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57056" y="1091771"/>
            <a:ext cx="7522029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t-test compares </a:t>
            </a:r>
            <a:r>
              <a:rPr lang="en-US" sz="1600" b="1" dirty="0">
                <a:solidFill>
                  <a:schemeClr val="bg1"/>
                </a:solidFill>
              </a:rPr>
              <a:t>two groups</a:t>
            </a:r>
            <a:r>
              <a:rPr lang="en-US" sz="1600" dirty="0">
                <a:solidFill>
                  <a:schemeClr val="bg1"/>
                </a:solidFill>
              </a:rPr>
              <a:t>  customers who used a discount and customers who did not — to answer one business question: </a:t>
            </a:r>
            <a:r>
              <a:rPr lang="en-US" sz="1600" b="1" dirty="0">
                <a:solidFill>
                  <a:schemeClr val="bg1"/>
                </a:solidFill>
              </a:rPr>
              <a:t>"Does offering a discount actually change how much a customer spends?“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Our t-statistic = 0.4808</a:t>
            </a:r>
            <a:r>
              <a:rPr lang="en-US" sz="1600" dirty="0">
                <a:solidFill>
                  <a:schemeClr val="bg1"/>
                </a:solidFill>
              </a:rPr>
              <a:t> — this value sits well inside the </a:t>
            </a:r>
            <a:r>
              <a:rPr lang="en-US" sz="1600" b="1" dirty="0">
                <a:solidFill>
                  <a:schemeClr val="bg1"/>
                </a:solidFill>
              </a:rPr>
              <a:t>blue acceptance zone</a:t>
            </a:r>
            <a:r>
              <a:rPr lang="en-US" sz="1600" dirty="0">
                <a:solidFill>
                  <a:schemeClr val="bg1"/>
                </a:solidFill>
              </a:rPr>
              <a:t> between the two red critical lines at </a:t>
            </a:r>
            <a:r>
              <a:rPr lang="en-US" sz="1600" b="1" dirty="0">
                <a:solidFill>
                  <a:schemeClr val="bg1"/>
                </a:solidFill>
              </a:rPr>
              <a:t>±1.96</a:t>
            </a:r>
            <a:r>
              <a:rPr lang="en-US" sz="1600" dirty="0">
                <a:solidFill>
                  <a:schemeClr val="bg1"/>
                </a:solidFill>
              </a:rPr>
              <a:t> — meaning the difference between the two groups is too small to trust as a real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p-value = 0.6307</a:t>
            </a:r>
            <a:r>
              <a:rPr lang="en-US" sz="1600" dirty="0">
                <a:solidFill>
                  <a:schemeClr val="bg1"/>
                </a:solidFill>
              </a:rPr>
              <a:t> means there is a </a:t>
            </a:r>
            <a:r>
              <a:rPr lang="en-US" sz="1600" b="1" dirty="0">
                <a:solidFill>
                  <a:schemeClr val="bg1"/>
                </a:solidFill>
              </a:rPr>
              <a:t>63% probability</a:t>
            </a:r>
            <a:r>
              <a:rPr lang="en-US" sz="1600" dirty="0">
                <a:solidFill>
                  <a:schemeClr val="bg1"/>
                </a:solidFill>
              </a:rPr>
              <a:t> that the $2.75 spending gap between discount and non-discount customers happened purely by </a:t>
            </a:r>
            <a:r>
              <a:rPr lang="en-US" sz="1600" b="1" dirty="0">
                <a:solidFill>
                  <a:schemeClr val="bg1"/>
                </a:solidFill>
              </a:rPr>
              <a:t>random chance</a:t>
            </a:r>
            <a:r>
              <a:rPr lang="en-US" sz="1600" dirty="0">
                <a:solidFill>
                  <a:schemeClr val="bg1"/>
                </a:solidFill>
              </a:rPr>
              <a:t> — not because of the discount itself — similar to flipping a coin and getting heads three times in a row — it looks like a pattern but it is just luck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</a:t>
            </a:r>
            <a:r>
              <a:rPr lang="en-US" sz="1600" b="1" dirty="0">
                <a:solidFill>
                  <a:schemeClr val="bg1"/>
                </a:solidFill>
              </a:rPr>
              <a:t>two red rejection zones</a:t>
            </a:r>
            <a:r>
              <a:rPr lang="en-US" sz="1600" dirty="0">
                <a:solidFill>
                  <a:schemeClr val="bg1"/>
                </a:solidFill>
              </a:rPr>
              <a:t> on either side represent where our result would need to land to call the discount effective — our green line at </a:t>
            </a:r>
            <a:r>
              <a:rPr lang="en-US" sz="1600" b="1" dirty="0">
                <a:solidFill>
                  <a:schemeClr val="bg1"/>
                </a:solidFill>
              </a:rPr>
              <a:t>t = 0.4808</a:t>
            </a:r>
            <a:r>
              <a:rPr lang="en-US" sz="1600" dirty="0">
                <a:solidFill>
                  <a:schemeClr val="bg1"/>
                </a:solidFill>
              </a:rPr>
              <a:t> never comes close to either red zone — confirming the discount produces </a:t>
            </a:r>
            <a:r>
              <a:rPr lang="en-US" sz="1600" b="1" dirty="0">
                <a:solidFill>
                  <a:schemeClr val="bg1"/>
                </a:solidFill>
              </a:rPr>
              <a:t>no measurable spending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Fail to Reject $H0: A 20% coupon yielded no meaningful lift, increasing average spend by a mere $2.75 ($505.26 vs. $502.51).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</a:endParaRP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40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6">
        <p:fade/>
      </p:transition>
    </mc:Choice>
    <mc:Fallback xmlns="">
      <p:transition spd="med" advTm="36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Revenue By Payment Method">
            <a:extLst>
              <a:ext uri="{FF2B5EF4-FFF2-40B4-BE49-F238E27FC236}">
                <a16:creationId xmlns:a16="http://schemas.microsoft.com/office/drawing/2014/main" id="{E4B2AEBB-6145-4F27-7F04-6238694FBC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5237"/>
            <a:ext cx="5431971" cy="428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DC6783-679A-A7F2-7383-6FD76CC9D09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3550" y="127000"/>
            <a:ext cx="1126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Payment Analysis : What is the most common payment method used by customers?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505AC0-7549-87CC-3E96-CE2A55FBCBB9}"/>
              </a:ext>
            </a:extLst>
          </p:cNvPr>
          <p:cNvSpPr txBox="1"/>
          <p:nvPr/>
        </p:nvSpPr>
        <p:spPr>
          <a:xfrm>
            <a:off x="5508171" y="610046"/>
            <a:ext cx="668382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Bank Transfer ranks #1 in both customers (2,067 / 20.7%) and revenue ($1.05M) — the most dominant payment channel overall, making it the top priority for business reliability and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Credit Card is #2 in both metrics — 2,028 customers (20.3%) generating $1.03M — high-value, trustworthy customers who are comfortable with digital transactions and likely to spend more per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Cash on Delivery holds #3 position — 2,007 customers (20.1%) and $1.02M revenue — despite being an offline method, it contributes significantly, meaning businesses cannot afford to drop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Debit Card users (1,983 customers / 19.8%) generated $0.99M — slightly lower revenue per customer compared to Credit Card, reflecting more budget-conscious spending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PayPal ranks last in both customers (1,915 / 19.2%) and revenue ($0.95M) — the lowest performing channel, yet still nearly $1M, indicating it should be retained but actively promoted to grow adoption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Total revenue across all methods is approximately $5.03M — with a near-perfect even split, no single method carries disproportionate business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Business recommendation — focus on converting Cash on Delivery ($1.02M) to digital methods, as COD increases return risk and logistics cost despite generating strong revenue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737A-8748-E53A-8D18-6EE7AB292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272E7FE-8A96-2A7A-E1AE-76ED0A8F89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3550" y="127000"/>
            <a:ext cx="1126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 What is the correlation between time spent on the website and purchase amount?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F63F79-28A3-46F0-0D65-7873EA5BD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666"/>
            <a:ext cx="6096000" cy="43619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04FD9E-81D8-F7CC-444C-256FAB764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941" y="1327666"/>
            <a:ext cx="5972059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6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7B55-6A33-1666-90D3-58CEF3739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1FE45B9-B849-204F-676C-3752BAF1DD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3550" y="127000"/>
            <a:ext cx="1126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 What is the correlation between time spent on the website and purchase amount?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62BC05-80F2-E17B-0D28-305FF83C43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25500"/>
            <a:ext cx="12192000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Pearson r = </a:t>
            </a:r>
            <a:r>
              <a:rPr lang="en-US" sz="1600" b="1" dirty="0">
                <a:solidFill>
                  <a:schemeClr val="bg1"/>
                </a:solidFill>
              </a:rPr>
              <a:t>0.0100</a:t>
            </a:r>
            <a:r>
              <a:rPr lang="en-US" sz="1600" dirty="0">
                <a:solidFill>
                  <a:schemeClr val="bg1"/>
                </a:solidFill>
              </a:rPr>
              <a:t> — essentially zero, meaning there is no linear relationship between time spent on the website and purchase amount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R² = </a:t>
            </a:r>
            <a:r>
              <a:rPr lang="en-US" sz="1600" b="1" dirty="0">
                <a:solidFill>
                  <a:schemeClr val="bg1"/>
                </a:solidFill>
              </a:rPr>
              <a:t>0.0001</a:t>
            </a:r>
            <a:r>
              <a:rPr lang="en-US" sz="1600" dirty="0">
                <a:solidFill>
                  <a:schemeClr val="bg1"/>
                </a:solidFill>
              </a:rPr>
              <a:t> — time spent on the website explains only </a:t>
            </a:r>
            <a:r>
              <a:rPr lang="en-US" sz="1600" b="1" dirty="0">
                <a:solidFill>
                  <a:schemeClr val="bg1"/>
                </a:solidFill>
              </a:rPr>
              <a:t>0.01% of the variation</a:t>
            </a:r>
            <a:r>
              <a:rPr lang="en-US" sz="1600" dirty="0">
                <a:solidFill>
                  <a:schemeClr val="bg1"/>
                </a:solidFill>
              </a:rPr>
              <a:t> in purchase amount — practically zero explanatory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P-Value = </a:t>
            </a:r>
            <a:r>
              <a:rPr lang="en-US" sz="1600" b="1" dirty="0">
                <a:solidFill>
                  <a:schemeClr val="bg1"/>
                </a:solidFill>
              </a:rPr>
              <a:t>0.3162</a:t>
            </a:r>
            <a:r>
              <a:rPr lang="en-US" sz="1600" dirty="0">
                <a:solidFill>
                  <a:schemeClr val="bg1"/>
                </a:solidFill>
              </a:rPr>
              <a:t> — greater than 0.05, meaning this result is </a:t>
            </a:r>
            <a:r>
              <a:rPr lang="en-US" sz="1600" b="1" dirty="0">
                <a:solidFill>
                  <a:schemeClr val="bg1"/>
                </a:solidFill>
              </a:rPr>
              <a:t>not statistically significant</a:t>
            </a:r>
            <a:r>
              <a:rPr lang="en-US" sz="1600" dirty="0">
                <a:solidFill>
                  <a:schemeClr val="bg1"/>
                </a:solidFill>
              </a:rPr>
              <a:t> and could simply be random chance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regression line is </a:t>
            </a:r>
            <a:r>
              <a:rPr lang="en-US" sz="1600" b="1" dirty="0">
                <a:solidFill>
                  <a:schemeClr val="bg1"/>
                </a:solidFill>
              </a:rPr>
              <a:t>completely flat</a:t>
            </a:r>
            <a:r>
              <a:rPr lang="en-US" sz="1600" dirty="0">
                <a:solidFill>
                  <a:schemeClr val="bg1"/>
                </a:solidFill>
              </a:rPr>
              <a:t> — confirming that as time spent increases from 1 to 60 minutes, purchase amount does not increase or decrease at all.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dots are </a:t>
            </a:r>
            <a:r>
              <a:rPr lang="en-US" sz="1600" b="1" dirty="0">
                <a:solidFill>
                  <a:schemeClr val="bg1"/>
                </a:solidFill>
              </a:rPr>
              <a:t>randomly and evenly scattered</a:t>
            </a:r>
            <a:r>
              <a:rPr lang="en-US" sz="1600" dirty="0">
                <a:solidFill>
                  <a:schemeClr val="bg1"/>
                </a:solidFill>
              </a:rPr>
              <a:t> from top to bottom at every time interval — no pattern, no clustering, no trend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There is </a:t>
            </a:r>
            <a:r>
              <a:rPr lang="en-US" sz="1600" b="1" dirty="0">
                <a:solidFill>
                  <a:schemeClr val="bg1"/>
                </a:solidFill>
              </a:rPr>
              <a:t>no meaningful correlation</a:t>
            </a:r>
            <a:r>
              <a:rPr lang="en-US" sz="1600" dirty="0">
                <a:solidFill>
                  <a:schemeClr val="bg1"/>
                </a:solidFill>
              </a:rPr>
              <a:t> between how long a customer browses and how much they spend — longer sessions do not convert into higher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This suggests the website may have a </a:t>
            </a:r>
            <a:r>
              <a:rPr lang="en-US" sz="1600" b="1" dirty="0">
                <a:solidFill>
                  <a:schemeClr val="bg1"/>
                </a:solidFill>
              </a:rPr>
              <a:t>product discovery or UX problem</a:t>
            </a:r>
            <a:r>
              <a:rPr lang="en-US" sz="1600" dirty="0">
                <a:solidFill>
                  <a:schemeClr val="bg1"/>
                </a:solidFill>
              </a:rPr>
              <a:t> — customers are not being guided toward higher value purchases during longer sessions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business should investigate </a:t>
            </a:r>
            <a:r>
              <a:rPr lang="en-US" sz="1600" b="1" dirty="0">
                <a:solidFill>
                  <a:schemeClr val="bg1"/>
                </a:solidFill>
              </a:rPr>
              <a:t>why customers browse long without spending more</a:t>
            </a:r>
            <a:r>
              <a:rPr lang="en-US" sz="1600" dirty="0">
                <a:solidFill>
                  <a:schemeClr val="bg1"/>
                </a:solidFill>
              </a:rPr>
              <a:t> — better recommendation engines, personalized offers, or improved navigation could help convert browsing time into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35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FEF79-F414-90EA-0700-5DE72EAED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67280E0-0205-D3F6-24EA-C9C244E4728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3550" y="127000"/>
            <a:ext cx="1126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Do customers who spend more time on the website purchase more items?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286A7A-BA78-D30C-946E-23E9C41C2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3500"/>
            <a:ext cx="5486399" cy="41093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0C5A09-328D-8611-D4DC-B724F05DD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175" y="1333500"/>
            <a:ext cx="660082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53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AF6FE-0FA3-99A6-DD38-F40FDE6D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32F2D39-9A1E-C176-5FA9-58BA54FDA7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3550" y="127000"/>
            <a:ext cx="1126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Do customers who spend more time on the website purchase more items?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2599D2-865A-4375-0A4D-CD5DB56AC610}"/>
              </a:ext>
            </a:extLst>
          </p:cNvPr>
          <p:cNvSpPr txBox="1"/>
          <p:nvPr/>
        </p:nvSpPr>
        <p:spPr>
          <a:xfrm>
            <a:off x="0" y="583418"/>
            <a:ext cx="12192000" cy="7248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Average number of items purchased is </a:t>
            </a:r>
            <a:r>
              <a:rPr lang="en-US" sz="1300" b="1" dirty="0">
                <a:solidFill>
                  <a:schemeClr val="bg1"/>
                </a:solidFill>
              </a:rPr>
              <a:t>5.0</a:t>
            </a:r>
            <a:r>
              <a:rPr lang="en-US" sz="1300" dirty="0">
                <a:solidFill>
                  <a:schemeClr val="bg1"/>
                </a:solidFill>
              </a:rPr>
              <a:t> (median 5.0) — the dead-center median suggests items purchased is uniformly distributed with no skew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Items purchased ranges from </a:t>
            </a:r>
            <a:r>
              <a:rPr lang="en-US" sz="1300" b="1" dirty="0">
                <a:solidFill>
                  <a:schemeClr val="bg1"/>
                </a:solidFill>
              </a:rPr>
              <a:t>1 to 9</a:t>
            </a:r>
            <a:r>
              <a:rPr lang="en-US" sz="1300" dirty="0">
                <a:solidFill>
                  <a:schemeClr val="bg1"/>
                </a:solidFill>
              </a:rPr>
              <a:t> with a std of 2.57 — customers buy anywhere between 1 and 9 items with an average spread of about 2–3 items either side of the mean.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Bottom 25% of browsers spend </a:t>
            </a:r>
            <a:r>
              <a:rPr lang="en-US" sz="1300" b="1" dirty="0">
                <a:solidFill>
                  <a:schemeClr val="bg1"/>
                </a:solidFill>
              </a:rPr>
              <a:t>up to 15 minutes</a:t>
            </a:r>
            <a:r>
              <a:rPr lang="en-US" sz="1300" dirty="0">
                <a:solidFill>
                  <a:schemeClr val="bg1"/>
                </a:solidFill>
              </a:rPr>
              <a:t> and still buy up to </a:t>
            </a:r>
            <a:r>
              <a:rPr lang="en-US" sz="1300" b="1" dirty="0">
                <a:solidFill>
                  <a:schemeClr val="bg1"/>
                </a:solidFill>
              </a:rPr>
              <a:t>3 items</a:t>
            </a:r>
            <a:r>
              <a:rPr lang="en-US" sz="1300" dirty="0">
                <a:solidFill>
                  <a:schemeClr val="bg1"/>
                </a:solidFill>
              </a:rPr>
              <a:t> — short sessions still produce multi-item purchases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Top 25% of browsers spend </a:t>
            </a:r>
            <a:r>
              <a:rPr lang="en-US" sz="1300" b="1" dirty="0">
                <a:solidFill>
                  <a:schemeClr val="bg1"/>
                </a:solidFill>
              </a:rPr>
              <a:t>45+ minutes</a:t>
            </a:r>
            <a:r>
              <a:rPr lang="en-US" sz="1300" dirty="0">
                <a:solidFill>
                  <a:schemeClr val="bg1"/>
                </a:solidFill>
              </a:rPr>
              <a:t> and buy up to </a:t>
            </a:r>
            <a:r>
              <a:rPr lang="en-US" sz="1300" b="1" dirty="0">
                <a:solidFill>
                  <a:schemeClr val="bg1"/>
                </a:solidFill>
              </a:rPr>
              <a:t>7 items</a:t>
            </a:r>
            <a:r>
              <a:rPr lang="en-US" sz="1300" dirty="0">
                <a:solidFill>
                  <a:schemeClr val="bg1"/>
                </a:solidFill>
              </a:rPr>
              <a:t> — but this is identical to the overall distribution, not a unique pattern driven by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r = </a:t>
            </a:r>
            <a:r>
              <a:rPr lang="en-US" sz="1300" b="1" dirty="0">
                <a:solidFill>
                  <a:schemeClr val="bg1"/>
                </a:solidFill>
              </a:rPr>
              <a:t>0.0001</a:t>
            </a:r>
            <a:r>
              <a:rPr lang="en-US" sz="1300" dirty="0">
                <a:solidFill>
                  <a:schemeClr val="bg1"/>
                </a:solidFill>
              </a:rPr>
              <a:t> — the correlation is so close to zero it is essentially </a:t>
            </a:r>
            <a:r>
              <a:rPr lang="en-US" sz="1300" b="1" dirty="0">
                <a:solidFill>
                  <a:schemeClr val="bg1"/>
                </a:solidFill>
              </a:rPr>
              <a:t>non-existent</a:t>
            </a:r>
            <a:r>
              <a:rPr lang="en-US" sz="1300" dirty="0">
                <a:solidFill>
                  <a:schemeClr val="bg1"/>
                </a:solidFill>
              </a:rPr>
              <a:t>, meaning time spent and items purchased move completely independently of each 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P-value = </a:t>
            </a:r>
            <a:r>
              <a:rPr lang="en-US" sz="1300" b="1" dirty="0">
                <a:solidFill>
                  <a:schemeClr val="bg1"/>
                </a:solidFill>
              </a:rPr>
              <a:t>0.9882</a:t>
            </a:r>
            <a:r>
              <a:rPr lang="en-US" sz="1300" dirty="0">
                <a:solidFill>
                  <a:schemeClr val="bg1"/>
                </a:solidFill>
              </a:rPr>
              <a:t> — this is the highest possible p-value, meaning there is a </a:t>
            </a:r>
            <a:r>
              <a:rPr lang="en-US" sz="1300" b="1" dirty="0">
                <a:solidFill>
                  <a:schemeClr val="bg1"/>
                </a:solidFill>
              </a:rPr>
              <a:t>98.82% chance</a:t>
            </a:r>
            <a:r>
              <a:rPr lang="en-US" sz="1300" dirty="0">
                <a:solidFill>
                  <a:schemeClr val="bg1"/>
                </a:solidFill>
              </a:rPr>
              <a:t> this result is purely random — the furthest possible result from statistical significance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The relationship direction is technically </a:t>
            </a:r>
            <a:r>
              <a:rPr lang="en-US" sz="1300" b="1" dirty="0">
                <a:solidFill>
                  <a:schemeClr val="bg1"/>
                </a:solidFill>
              </a:rPr>
              <a:t>Positive</a:t>
            </a:r>
            <a:r>
              <a:rPr lang="en-US" sz="1300" dirty="0">
                <a:solidFill>
                  <a:schemeClr val="bg1"/>
                </a:solidFill>
              </a:rPr>
              <a:t> but with r = 0.0001 this is meaningless — positive or negative makes no difference at this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Relationship strength is classified as </a:t>
            </a:r>
            <a:r>
              <a:rPr lang="en-US" sz="1300" b="1" dirty="0">
                <a:solidFill>
                  <a:schemeClr val="bg1"/>
                </a:solidFill>
              </a:rPr>
              <a:t>Negligible</a:t>
            </a:r>
            <a:r>
              <a:rPr lang="en-US" sz="1300" dirty="0">
                <a:solidFill>
                  <a:schemeClr val="bg1"/>
                </a:solidFill>
              </a:rPr>
              <a:t> — the weakest possible category, confirming no actionable relationship exists</a:t>
            </a:r>
          </a:p>
          <a:p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Add "Customers also bought" and "You may also like" sections on every product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Use purchase history and browsing behavior to serve personalized suggestions in real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Target impact → convert idle browsing time into additional item discovery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Create product bundles (buy 3 get 1 free, bundle deals by category) to encourage larger baskets.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Show "Complete the look" or "Frequently bought together" prompts at checkout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Target impact → increase number of items purchased per session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80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6D569-EAC2-F137-E264-D4428894A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71253D0-38E2-918E-90D9-435631F8978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714" y="137886"/>
            <a:ext cx="11510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 What percentage of customers are satisfied (rating of 4 or 5) and are also return 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customers?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D3C1A7-22CC-8FDC-8C55-EC87A1DF5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8103"/>
            <a:ext cx="12192000" cy="551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69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8D578-DF04-37D6-4AA1-F17A79C0E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3DC021-726F-D368-F5AF-94A3586A185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60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Score 1 (most dissatisfied)</a:t>
            </a:r>
            <a:r>
              <a:rPr lang="en-US" sz="1100" dirty="0">
                <a:solidFill>
                  <a:schemeClr val="bg1"/>
                </a:solidFill>
              </a:rPr>
              <a:t> — Non-Return: </a:t>
            </a:r>
            <a:r>
              <a:rPr lang="en-US" sz="1100" b="1" dirty="0">
                <a:solidFill>
                  <a:schemeClr val="bg1"/>
                </a:solidFill>
              </a:rPr>
              <a:t>998 (50.4%)</a:t>
            </a:r>
            <a:r>
              <a:rPr lang="en-US" sz="1100" dirty="0">
                <a:solidFill>
                  <a:schemeClr val="bg1"/>
                </a:solidFill>
              </a:rPr>
              <a:t> vs Return: </a:t>
            </a:r>
            <a:r>
              <a:rPr lang="en-US" sz="1100" b="1" dirty="0">
                <a:solidFill>
                  <a:schemeClr val="bg1"/>
                </a:solidFill>
              </a:rPr>
              <a:t>981 (49.6%)</a:t>
            </a:r>
            <a:r>
              <a:rPr lang="en-US" sz="1100" dirty="0">
                <a:solidFill>
                  <a:schemeClr val="bg1"/>
                </a:solidFill>
              </a:rPr>
              <a:t> — even the most unhappy customers return at nearly the same rate as they leave — disproving the assumption that poor experience drives customer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Score 4 (most satisfied)</a:t>
            </a:r>
            <a:r>
              <a:rPr lang="en-US" sz="1100" dirty="0">
                <a:solidFill>
                  <a:schemeClr val="bg1"/>
                </a:solidFill>
              </a:rPr>
              <a:t> — Non-Return: </a:t>
            </a:r>
            <a:r>
              <a:rPr lang="en-US" sz="1100" b="1" dirty="0">
                <a:solidFill>
                  <a:schemeClr val="bg1"/>
                </a:solidFill>
              </a:rPr>
              <a:t>1,041 (50.1%)</a:t>
            </a:r>
            <a:r>
              <a:rPr lang="en-US" sz="1100" dirty="0">
                <a:solidFill>
                  <a:schemeClr val="bg1"/>
                </a:solidFill>
              </a:rPr>
              <a:t> vs Return: </a:t>
            </a:r>
            <a:r>
              <a:rPr lang="en-US" sz="1100" b="1" dirty="0">
                <a:solidFill>
                  <a:schemeClr val="bg1"/>
                </a:solidFill>
              </a:rPr>
              <a:t>1,038 (49.9%)</a:t>
            </a:r>
            <a:r>
              <a:rPr lang="en-US" sz="1100" dirty="0">
                <a:solidFill>
                  <a:schemeClr val="bg1"/>
                </a:solidFill>
              </a:rPr>
              <a:t> — the highest count score shows the most equal split of all — confirming satisfaction at this level produces </a:t>
            </a:r>
            <a:r>
              <a:rPr lang="en-US" sz="1100" b="1" dirty="0">
                <a:solidFill>
                  <a:schemeClr val="bg1"/>
                </a:solidFill>
              </a:rPr>
              <a:t>zero loyalty advantage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Score 5 (most satisfied)</a:t>
            </a:r>
            <a:r>
              <a:rPr lang="en-US" sz="1100" dirty="0">
                <a:solidFill>
                  <a:schemeClr val="bg1"/>
                </a:solidFill>
              </a:rPr>
              <a:t> — Non-Return: </a:t>
            </a:r>
            <a:r>
              <a:rPr lang="en-US" sz="1100" b="1" dirty="0">
                <a:solidFill>
                  <a:schemeClr val="bg1"/>
                </a:solidFill>
              </a:rPr>
              <a:t>955 (49.6%)</a:t>
            </a:r>
            <a:r>
              <a:rPr lang="en-US" sz="1100" dirty="0">
                <a:solidFill>
                  <a:schemeClr val="bg1"/>
                </a:solidFill>
              </a:rPr>
              <a:t> vs Return: </a:t>
            </a:r>
            <a:r>
              <a:rPr lang="en-US" sz="1100" b="1" dirty="0">
                <a:solidFill>
                  <a:schemeClr val="bg1"/>
                </a:solidFill>
              </a:rPr>
              <a:t>970 (50.4%)</a:t>
            </a:r>
            <a:r>
              <a:rPr lang="en-US" sz="1100" dirty="0">
                <a:solidFill>
                  <a:schemeClr val="bg1"/>
                </a:solidFill>
              </a:rPr>
              <a:t> — the highest count score shows the most equal split of all — confirming satisfaction at this level produces </a:t>
            </a:r>
            <a:r>
              <a:rPr lang="en-US" sz="1100" b="1" dirty="0">
                <a:solidFill>
                  <a:schemeClr val="bg1"/>
                </a:solidFill>
              </a:rPr>
              <a:t>zero loyalty advantage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Score 2</a:t>
            </a:r>
            <a:r>
              <a:rPr lang="en-US" sz="1100" dirty="0">
                <a:solidFill>
                  <a:schemeClr val="bg1"/>
                </a:solidFill>
              </a:rPr>
              <a:t> shows the largest gap — Non-Return: </a:t>
            </a:r>
            <a:r>
              <a:rPr lang="en-US" sz="1100" b="1" dirty="0">
                <a:solidFill>
                  <a:schemeClr val="bg1"/>
                </a:solidFill>
              </a:rPr>
              <a:t>1,041 (51.5%)</a:t>
            </a:r>
            <a:r>
              <a:rPr lang="en-US" sz="1100" dirty="0">
                <a:solidFill>
                  <a:schemeClr val="bg1"/>
                </a:solidFill>
              </a:rPr>
              <a:t> vs Return: </a:t>
            </a:r>
            <a:r>
              <a:rPr lang="en-US" sz="1100" b="1" dirty="0">
                <a:solidFill>
                  <a:schemeClr val="bg1"/>
                </a:solidFill>
              </a:rPr>
              <a:t>979 (48.5%)</a:t>
            </a:r>
            <a:r>
              <a:rPr lang="en-US" sz="1100" dirty="0">
                <a:solidFill>
                  <a:schemeClr val="bg1"/>
                </a:solidFill>
              </a:rPr>
              <a:t> — a difference of only </a:t>
            </a:r>
            <a:r>
              <a:rPr lang="en-US" sz="1100" b="1" dirty="0">
                <a:solidFill>
                  <a:schemeClr val="bg1"/>
                </a:solidFill>
              </a:rPr>
              <a:t>2 percentage points</a:t>
            </a:r>
            <a:r>
              <a:rPr lang="en-US" sz="1100" dirty="0">
                <a:solidFill>
                  <a:schemeClr val="bg1"/>
                </a:solidFill>
              </a:rPr>
              <a:t> — the widest gap in the entire chart yet still statistically meaningless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Score 3</a:t>
            </a:r>
            <a:r>
              <a:rPr lang="en-US" sz="1100" dirty="0">
                <a:solidFill>
                  <a:schemeClr val="bg1"/>
                </a:solidFill>
              </a:rPr>
              <a:t> mirrors Score 2 exactly — Non-Return: </a:t>
            </a:r>
            <a:r>
              <a:rPr lang="en-US" sz="1100" b="1" dirty="0">
                <a:solidFill>
                  <a:schemeClr val="bg1"/>
                </a:solidFill>
              </a:rPr>
              <a:t>969 (48.5%)</a:t>
            </a:r>
            <a:r>
              <a:rPr lang="en-US" sz="1100" dirty="0">
                <a:solidFill>
                  <a:schemeClr val="bg1"/>
                </a:solidFill>
              </a:rPr>
              <a:t> vs Return: </a:t>
            </a:r>
            <a:r>
              <a:rPr lang="en-US" sz="1100" b="1" dirty="0">
                <a:solidFill>
                  <a:schemeClr val="bg1"/>
                </a:solidFill>
              </a:rPr>
              <a:t>1,028 (51.5%)</a:t>
            </a:r>
            <a:r>
              <a:rPr lang="en-US" sz="1100" dirty="0">
                <a:solidFill>
                  <a:schemeClr val="bg1"/>
                </a:solidFill>
              </a:rPr>
              <a:t> — interestingly </a:t>
            </a:r>
            <a:r>
              <a:rPr lang="en-US" sz="1100" b="1" dirty="0">
                <a:solidFill>
                  <a:schemeClr val="bg1"/>
                </a:solidFill>
              </a:rPr>
              <a:t>neutral customers return slightly more</a:t>
            </a:r>
            <a:r>
              <a:rPr lang="en-US" sz="1100" dirty="0">
                <a:solidFill>
                  <a:schemeClr val="bg1"/>
                </a:solidFill>
              </a:rPr>
              <a:t> than dissatisfied Score 2 customers — suggesting indifference is less damaging to loyalty than mild dissatisfaction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Maximum return rate gap across all scores = 1.9 percentage points</a:t>
            </a:r>
            <a:r>
              <a:rPr lang="en-US" sz="1100" dirty="0">
                <a:solidFill>
                  <a:schemeClr val="bg1"/>
                </a:solidFill>
              </a:rPr>
              <a:t> (Score 3 Return 51.5% vs Score 4 Return 49.9%) — statistically confirmed as random noise by </a:t>
            </a:r>
            <a:r>
              <a:rPr lang="en-US" sz="1100" b="1" dirty="0">
                <a:solidFill>
                  <a:schemeClr val="bg1"/>
                </a:solidFill>
              </a:rPr>
              <a:t>Mann-Whitney U test (p = 0.3822)</a:t>
            </a:r>
            <a:br>
              <a:rPr lang="en-US" sz="1100" b="1" dirty="0">
                <a:solidFill>
                  <a:schemeClr val="bg1"/>
                </a:solidFill>
              </a:rPr>
            </a:br>
            <a:r>
              <a:rPr lang="en-US" sz="1100" b="1" dirty="0">
                <a:solidFill>
                  <a:schemeClr val="bg1"/>
                </a:solidFill>
              </a:rPr>
              <a:t>Stop investing in satisfaction scores as a loyalty driver</a:t>
            </a:r>
            <a:r>
              <a:rPr lang="en-US" sz="1100" dirty="0">
                <a:solidFill>
                  <a:schemeClr val="bg1"/>
                </a:solidFill>
              </a:rPr>
              <a:t> — the data proves that improving review scores from 3 to 5 does not increase the probability of a customer returning — every dollar spent purely on satisfaction improvement without a dedicated </a:t>
            </a:r>
            <a:r>
              <a:rPr lang="en-US" sz="1100" b="1" dirty="0">
                <a:solidFill>
                  <a:schemeClr val="bg1"/>
                </a:solidFill>
              </a:rPr>
              <a:t>re-engagement mechanism</a:t>
            </a:r>
            <a:r>
              <a:rPr lang="en-US" sz="1100" dirty="0">
                <a:solidFill>
                  <a:schemeClr val="bg1"/>
                </a:solidFill>
              </a:rPr>
              <a:t> is wasted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Build a post-purchase retention system independent of satisfaction</a:t>
            </a:r>
            <a:r>
              <a:rPr lang="en-US" sz="1100" dirty="0">
                <a:solidFill>
                  <a:schemeClr val="bg1"/>
                </a:solidFill>
              </a:rPr>
              <a:t> — since even Score 5 customers return at only 50.4% — implement </a:t>
            </a:r>
            <a:r>
              <a:rPr lang="en-US" sz="1100" b="1" dirty="0">
                <a:solidFill>
                  <a:schemeClr val="bg1"/>
                </a:solidFill>
              </a:rPr>
              <a:t>automated follow-up sequences</a:t>
            </a:r>
            <a:r>
              <a:rPr lang="en-US" sz="1100" dirty="0">
                <a:solidFill>
                  <a:schemeClr val="bg1"/>
                </a:solidFill>
              </a:rPr>
              <a:t> triggered 7, 14 and 30 days after purchase regardless of review score — loyalty must be actively cultivated not assumed from happiness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Score 1 customers (981 returning — 49.6%)</a:t>
            </a:r>
            <a:r>
              <a:rPr lang="en-US" sz="1100" dirty="0">
                <a:solidFill>
                  <a:schemeClr val="bg1"/>
                </a:solidFill>
              </a:rPr>
              <a:t> represent a massive untapped recovery opportunity — nearly </a:t>
            </a:r>
            <a:r>
              <a:rPr lang="en-US" sz="1100" b="1" dirty="0">
                <a:solidFill>
                  <a:schemeClr val="bg1"/>
                </a:solidFill>
              </a:rPr>
              <a:t>half of the most dissatisfied customers still return</a:t>
            </a:r>
            <a:r>
              <a:rPr lang="en-US" sz="1100" dirty="0">
                <a:solidFill>
                  <a:schemeClr val="bg1"/>
                </a:solidFill>
              </a:rPr>
              <a:t> — a targeted </a:t>
            </a:r>
            <a:r>
              <a:rPr lang="en-US" sz="1100" b="1" dirty="0">
                <a:solidFill>
                  <a:schemeClr val="bg1"/>
                </a:solidFill>
              </a:rPr>
              <a:t>service recovery </a:t>
            </a:r>
            <a:r>
              <a:rPr lang="en-US" sz="1100" b="1" dirty="0" err="1">
                <a:solidFill>
                  <a:schemeClr val="bg1"/>
                </a:solidFill>
              </a:rPr>
              <a:t>programme</a:t>
            </a:r>
            <a:r>
              <a:rPr lang="en-US" sz="1100" dirty="0">
                <a:solidFill>
                  <a:schemeClr val="bg1"/>
                </a:solidFill>
              </a:rPr>
              <a:t> reaching out to Score 1 reviewers with a personalised apology and exclusive offer could convert them into loyal advocates at low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Score 2 customers show the lowest return rate (48.5%)</a:t>
            </a:r>
            <a:r>
              <a:rPr lang="en-US" sz="1100" dirty="0">
                <a:solidFill>
                  <a:schemeClr val="bg1"/>
                </a:solidFill>
              </a:rPr>
              <a:t> — mildly dissatisfied customers are the most likely to quietly leave without complaining — implement a </a:t>
            </a:r>
            <a:r>
              <a:rPr lang="en-US" sz="1100" b="1" dirty="0">
                <a:solidFill>
                  <a:schemeClr val="bg1"/>
                </a:solidFill>
              </a:rPr>
              <a:t>proactive satisfaction rescue campaign</a:t>
            </a:r>
            <a:r>
              <a:rPr lang="en-US" sz="1100" dirty="0">
                <a:solidFill>
                  <a:schemeClr val="bg1"/>
                </a:solidFill>
              </a:rPr>
              <a:t> specifically targeting Score 2 reviewers before they churn permanently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Score 3 neutral customers return at the highest rate (51.5%)</a:t>
            </a:r>
            <a:r>
              <a:rPr lang="en-US" sz="1100" dirty="0">
                <a:solidFill>
                  <a:schemeClr val="bg1"/>
                </a:solidFill>
              </a:rPr>
              <a:t> — these undecided customers represent the easiest conversion target — a single well-timed </a:t>
            </a:r>
            <a:r>
              <a:rPr lang="en-US" sz="1100" b="1" dirty="0">
                <a:solidFill>
                  <a:schemeClr val="bg1"/>
                </a:solidFill>
              </a:rPr>
              <a:t>personalised incentive</a:t>
            </a:r>
            <a:r>
              <a:rPr lang="en-US" sz="1100" dirty="0">
                <a:solidFill>
                  <a:schemeClr val="bg1"/>
                </a:solidFill>
              </a:rPr>
              <a:t> (exclusive discount, loyalty points, product recommendation) could push this segment toward both higher satisfaction AND confirmed repeat purchase</a:t>
            </a:r>
            <a:br>
              <a:rPr lang="en-US" sz="1100" dirty="0">
                <a:solidFill>
                  <a:schemeClr val="bg1"/>
                </a:solidFill>
              </a:rPr>
            </a:br>
            <a:endParaRPr lang="en-US" sz="11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The </a:t>
            </a:r>
            <a:r>
              <a:rPr lang="en-US" sz="1100" b="1" dirty="0">
                <a:solidFill>
                  <a:schemeClr val="bg1"/>
                </a:solidFill>
              </a:rPr>
              <a:t>uniform 50/50 split across all scores</a:t>
            </a:r>
            <a:r>
              <a:rPr lang="en-US" sz="1100" dirty="0">
                <a:solidFill>
                  <a:schemeClr val="bg1"/>
                </a:solidFill>
              </a:rPr>
              <a:t> signals the business has </a:t>
            </a:r>
            <a:r>
              <a:rPr lang="en-US" sz="1100" b="1" dirty="0">
                <a:solidFill>
                  <a:schemeClr val="bg1"/>
                </a:solidFill>
              </a:rPr>
              <a:t>no loyalty infrastructure</a:t>
            </a:r>
            <a:r>
              <a:rPr lang="en-US" sz="1100" dirty="0">
                <a:solidFill>
                  <a:schemeClr val="bg1"/>
                </a:solidFill>
              </a:rPr>
              <a:t> — satisfaction is being measured but not acted upon — implementing a </a:t>
            </a:r>
            <a:r>
              <a:rPr lang="en-US" sz="1100" b="1" dirty="0">
                <a:solidFill>
                  <a:schemeClr val="bg1"/>
                </a:solidFill>
              </a:rPr>
              <a:t>Net Promoter Score (NPS) </a:t>
            </a:r>
            <a:r>
              <a:rPr lang="en-US" sz="1100" b="1" dirty="0" err="1">
                <a:solidFill>
                  <a:schemeClr val="bg1"/>
                </a:solidFill>
              </a:rPr>
              <a:t>programme</a:t>
            </a:r>
            <a:r>
              <a:rPr lang="en-US" sz="1100" dirty="0">
                <a:solidFill>
                  <a:schemeClr val="bg1"/>
                </a:solidFill>
              </a:rPr>
              <a:t> with score-based follow-up actions would be the single highest-impact loyalty investment available</a:t>
            </a:r>
            <a:endParaRPr lang="en-US" sz="11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61494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6C98B-9231-BA41-7211-A4382FB1D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E4035CA-0089-6FC2-E2AB-F59D91F2C7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714" y="137886"/>
            <a:ext cx="11510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What is the relationship between the number of items purchased and customer 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satisfaction?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CCE921-BD84-5166-C838-CF3EFFD09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2187"/>
            <a:ext cx="5562600" cy="5845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0AA5E8-FF9C-DB86-F591-040547BC2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1012187"/>
            <a:ext cx="6629400" cy="570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514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6122E-C9A2-97AF-45F8-8F2169A1C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F6C00CB-668E-7E13-A9F1-EE0BF9B8146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714" y="137886"/>
            <a:ext cx="11510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 What percentage of customers are satisfied (rating of 4 or 5) and are also return 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customers?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D2A91B-CD69-0034-617D-AAF974F72F4A}"/>
              </a:ext>
            </a:extLst>
          </p:cNvPr>
          <p:cNvSpPr txBox="1"/>
          <p:nvPr/>
        </p:nvSpPr>
        <p:spPr>
          <a:xfrm>
            <a:off x="0" y="1001486"/>
            <a:ext cx="12192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Group mean items purchased</a:t>
            </a:r>
            <a:r>
              <a:rPr lang="en-US" dirty="0">
                <a:solidFill>
                  <a:schemeClr val="bg1"/>
                </a:solidFill>
              </a:rPr>
              <a:t> across all three satisfaction levels shows virtually no variation — Low satisfaction customers average </a:t>
            </a:r>
            <a:r>
              <a:rPr lang="en-US" b="1" dirty="0">
                <a:solidFill>
                  <a:schemeClr val="bg1"/>
                </a:solidFill>
              </a:rPr>
              <a:t>4.99 items</a:t>
            </a:r>
            <a:r>
              <a:rPr lang="en-US" dirty="0">
                <a:solidFill>
                  <a:schemeClr val="bg1"/>
                </a:solidFill>
              </a:rPr>
              <a:t>, Medium satisfaction </a:t>
            </a:r>
            <a:r>
              <a:rPr lang="en-US" b="1" dirty="0">
                <a:solidFill>
                  <a:schemeClr val="bg1"/>
                </a:solidFill>
              </a:rPr>
              <a:t>5.06 items</a:t>
            </a:r>
            <a:r>
              <a:rPr lang="en-US" dirty="0">
                <a:solidFill>
                  <a:schemeClr val="bg1"/>
                </a:solidFill>
              </a:rPr>
              <a:t> and High satisfaction </a:t>
            </a:r>
            <a:r>
              <a:rPr lang="en-US" b="1" dirty="0">
                <a:solidFill>
                  <a:schemeClr val="bg1"/>
                </a:solidFill>
              </a:rPr>
              <a:t>4.95 items</a:t>
            </a:r>
            <a:r>
              <a:rPr lang="en-US" dirty="0">
                <a:solidFill>
                  <a:schemeClr val="bg1"/>
                </a:solidFill>
              </a:rPr>
              <a:t> — a maximum difference of only </a:t>
            </a:r>
            <a:r>
              <a:rPr lang="en-US" b="1" dirty="0">
                <a:solidFill>
                  <a:schemeClr val="bg1"/>
                </a:solidFill>
              </a:rPr>
              <a:t>0.11 items</a:t>
            </a:r>
            <a:r>
              <a:rPr lang="en-US" dirty="0">
                <a:solidFill>
                  <a:schemeClr val="bg1"/>
                </a:solidFill>
              </a:rPr>
              <a:t> across the entire satisfaction spectrum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Spearman correlation r = −0.0062 (p = 0.5322)</a:t>
            </a:r>
            <a:r>
              <a:rPr lang="en-US" dirty="0">
                <a:solidFill>
                  <a:schemeClr val="bg1"/>
                </a:solidFill>
              </a:rPr>
              <a:t> confirms there is </a:t>
            </a:r>
            <a:r>
              <a:rPr lang="en-US" b="1" dirty="0">
                <a:solidFill>
                  <a:schemeClr val="bg1"/>
                </a:solidFill>
              </a:rPr>
              <a:t>no statistically significant relationship</a:t>
            </a:r>
            <a:r>
              <a:rPr lang="en-US" dirty="0">
                <a:solidFill>
                  <a:schemeClr val="bg1"/>
                </a:solidFill>
              </a:rPr>
              <a:t> between items purchased and satisfaction level — the negative r value reveals that High satisfaction customers actually purchase </a:t>
            </a:r>
            <a:r>
              <a:rPr lang="en-US" b="1" dirty="0">
                <a:solidFill>
                  <a:schemeClr val="bg1"/>
                </a:solidFill>
              </a:rPr>
              <a:t>marginally fewer items</a:t>
            </a:r>
            <a:r>
              <a:rPr lang="en-US" dirty="0">
                <a:solidFill>
                  <a:schemeClr val="bg1"/>
                </a:solidFill>
              </a:rPr>
              <a:t> than Low satisfaction customers — directly contradicting the common retail assumption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LOESS smoothing curve</a:t>
            </a:r>
            <a:r>
              <a:rPr lang="en-US" dirty="0">
                <a:solidFill>
                  <a:schemeClr val="bg1"/>
                </a:solidFill>
              </a:rPr>
              <a:t> — which traces the actual trend through 10,000 data points — is </a:t>
            </a:r>
            <a:r>
              <a:rPr lang="en-US" b="1" dirty="0">
                <a:solidFill>
                  <a:schemeClr val="bg1"/>
                </a:solidFill>
              </a:rPr>
              <a:t>virtually flat</a:t>
            </a:r>
            <a:r>
              <a:rPr lang="en-US" dirty="0">
                <a:solidFill>
                  <a:schemeClr val="bg1"/>
                </a:solidFill>
              </a:rPr>
              <a:t> across all three satisfaction groups — rising only 0.07 items from Low to Medium before dropping 0.11 items to High — confirming no meaningful directional trend exists between basket size and customer happiness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Spearman correlation heatmap</a:t>
            </a:r>
            <a:r>
              <a:rPr lang="en-US" dirty="0">
                <a:solidFill>
                  <a:schemeClr val="bg1"/>
                </a:solidFill>
              </a:rPr>
              <a:t> confirms this finding at a broader level — Items Purchased shows correlations of </a:t>
            </a:r>
            <a:r>
              <a:rPr lang="en-US" b="1" dirty="0">
                <a:solidFill>
                  <a:schemeClr val="bg1"/>
                </a:solidFill>
              </a:rPr>
              <a:t>0.01 or less</a:t>
            </a:r>
            <a:r>
              <a:rPr lang="en-US" dirty="0">
                <a:solidFill>
                  <a:schemeClr val="bg1"/>
                </a:solidFill>
              </a:rPr>
              <a:t> with every other variable in the dataset including Purchase Amount, Time on Website, Review Score, Age and Delivery Days — proving that basket size is </a:t>
            </a:r>
            <a:r>
              <a:rPr lang="en-US" b="1" dirty="0">
                <a:solidFill>
                  <a:schemeClr val="bg1"/>
                </a:solidFill>
              </a:rPr>
              <a:t>completely independent of every measured customer </a:t>
            </a:r>
            <a:r>
              <a:rPr lang="en-US" b="1" dirty="0" err="1">
                <a:solidFill>
                  <a:schemeClr val="bg1"/>
                </a:solidFill>
              </a:rPr>
              <a:t>behaviour</a:t>
            </a:r>
            <a:r>
              <a:rPr lang="en-US" dirty="0">
                <a:solidFill>
                  <a:schemeClr val="bg1"/>
                </a:solidFill>
              </a:rPr>
              <a:t> in this dataset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181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04362-8B1B-D2B3-7998-257F3D6C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F1E92C7-7016-7295-C0B8-1BC6628605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714" y="137886"/>
            <a:ext cx="1151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What factors contribute most to a customer being classified as a return customer?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1634E4-D074-CF16-1E76-37275D030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3878"/>
            <a:ext cx="12192000" cy="595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4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38C16-9ADA-1FCA-9A87-0E8BB21D7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3748FEB-3431-7DD9-CC70-908507D4806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714" y="137886"/>
            <a:ext cx="1151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What factors contribute most to a customer being classified as a return customer?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7CE319-4C70-85D6-EDD9-A3D1C964E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3878"/>
            <a:ext cx="12192000" cy="595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0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C5225-B766-0478-5167-30AA2133B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A83017-2878-5137-B8AE-23001716635A}"/>
              </a:ext>
            </a:extLst>
          </p:cNvPr>
          <p:cNvSpPr txBox="1"/>
          <p:nvPr/>
        </p:nvSpPr>
        <p:spPr>
          <a:xfrm>
            <a:off x="0" y="0"/>
            <a:ext cx="12192000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Discounts are the #1 trigger</a:t>
            </a:r>
            <a:r>
              <a:rPr lang="en-US" sz="1600" dirty="0">
                <a:solidFill>
                  <a:schemeClr val="bg1"/>
                </a:solidFill>
              </a:rPr>
              <a:t> — Logistic Regression and the Decision Tree both agree: customers who used a discount are significantly more likely to return. This is your single most actionable retention lever right now.</a:t>
            </a:r>
            <a:br>
              <a:rPr lang="en-US" sz="1600" dirty="0">
                <a:solidFill>
                  <a:schemeClr val="bg1"/>
                </a:solidFill>
              </a:rPr>
            </a:b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How much they spend matters most in reality</a:t>
            </a:r>
            <a:r>
              <a:rPr lang="en-US" sz="1600" dirty="0">
                <a:solidFill>
                  <a:schemeClr val="bg1"/>
                </a:solidFill>
              </a:rPr>
              <a:t> — Random Forest (the most powerful model) ranked </a:t>
            </a:r>
            <a:r>
              <a:rPr lang="en-US" dirty="0" err="1">
                <a:solidFill>
                  <a:schemeClr val="bg1"/>
                </a:solidFill>
              </a:rPr>
              <a:t>purchase_amount</a:t>
            </a:r>
            <a:r>
              <a:rPr lang="en-US" sz="1600" dirty="0">
                <a:solidFill>
                  <a:schemeClr val="bg1"/>
                </a:solidFill>
              </a:rPr>
              <a:t> #1 at 15.41%. High-spending customers are your most loyal segment — they return because they're already invested.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>
                <a:solidFill>
                  <a:schemeClr val="bg1"/>
                </a:solidFill>
              </a:rPr>
            </a:b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Time on website is a strong loyalty signal</a:t>
            </a:r>
            <a:r>
              <a:rPr lang="en-US" sz="1600" dirty="0">
                <a:solidFill>
                  <a:schemeClr val="bg1"/>
                </a:solidFill>
              </a:rPr>
              <a:t> — Customers who browse longer (12.05% RF importance) are more likely to return. This reflects genuine interest, not just impulse buying.</a:t>
            </a:r>
            <a:br>
              <a:rPr lang="en-US" sz="1600" dirty="0">
                <a:solidFill>
                  <a:schemeClr val="bg1"/>
                </a:solidFill>
              </a:rPr>
            </a:b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Age drives return behavior non-linearly</a:t>
            </a:r>
            <a:r>
              <a:rPr lang="en-US" sz="1600" dirty="0">
                <a:solidFill>
                  <a:schemeClr val="bg1"/>
                </a:solidFill>
              </a:rPr>
              <a:t> — RF ranked </a:t>
            </a:r>
            <a:r>
              <a:rPr lang="en-US" dirty="0">
                <a:solidFill>
                  <a:schemeClr val="bg1"/>
                </a:solidFill>
              </a:rPr>
              <a:t>age</a:t>
            </a:r>
            <a:r>
              <a:rPr lang="en-US" sz="1600" dirty="0">
                <a:solidFill>
                  <a:schemeClr val="bg1"/>
                </a:solidFill>
              </a:rPr>
              <a:t> #3 at 11.24%. Customers aged 23–25 showed the strongest return lean in the Decision Tree. Middle-age segments behave differently than younger/older ones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Delivery experience influences loyalty</a:t>
            </a:r>
            <a:r>
              <a:rPr lang="en-US" sz="1600" dirty="0">
                <a:solidFill>
                  <a:schemeClr val="bg1"/>
                </a:solidFill>
              </a:rPr>
              <a:t> — </a:t>
            </a:r>
            <a:r>
              <a:rPr lang="en-US" dirty="0" err="1">
                <a:solidFill>
                  <a:schemeClr val="bg1"/>
                </a:solidFill>
              </a:rPr>
              <a:t>delivery_time_days</a:t>
            </a:r>
            <a:r>
              <a:rPr lang="en-US" sz="1600" dirty="0">
                <a:solidFill>
                  <a:schemeClr val="bg1"/>
                </a:solidFill>
              </a:rPr>
              <a:t> ranked #4 in RF (8.71%). Surprisingly, longer delivery still correlates positively — customers may be tolerant if other factors satisfy them.</a:t>
            </a:r>
            <a:br>
              <a:rPr lang="en-US" sz="1600" dirty="0">
                <a:solidFill>
                  <a:schemeClr val="bg1"/>
                </a:solidFill>
              </a:rPr>
            </a:b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Location creates loyalty clusters</a:t>
            </a:r>
            <a:r>
              <a:rPr lang="en-US" sz="1600" dirty="0">
                <a:solidFill>
                  <a:schemeClr val="bg1"/>
                </a:solidFill>
              </a:rPr>
              <a:t> — Rajshahi, Dhaka, and Rangpur customers return more often per LR. Geographic loyalty patterns suggest regional differences in shopping behavior.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Launch a discount-based loyalty program</a:t>
            </a:r>
            <a:r>
              <a:rPr lang="en-US" sz="1600" dirty="0">
                <a:solidFill>
                  <a:schemeClr val="bg1"/>
                </a:solidFill>
              </a:rPr>
              <a:t> — Since discounts are the strongest universal return trigger across 2 of 3 models, structured repeat-purchase coupons or member-exclusive discounts will directly increase return rates.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Focus retention efforts on high-spend customers</a:t>
            </a:r>
            <a:r>
              <a:rPr lang="en-US" sz="1600" dirty="0">
                <a:solidFill>
                  <a:schemeClr val="bg1"/>
                </a:solidFill>
              </a:rPr>
              <a:t> — Purchase amount is the most powerful real-world predictor. Identify your top spenders and target them with VIP perks, early access, or personalized offers before they go quiet.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Run geo-targeted campaigns in Rajshahi, Dhaka &amp; Rangpur</a:t>
            </a:r>
            <a:r>
              <a:rPr lang="en-US" sz="1600" dirty="0">
                <a:solidFill>
                  <a:schemeClr val="bg1"/>
                </a:solidFill>
              </a:rPr>
              <a:t> — These locations already show natural loyalty. Double down with regional promotions, faster delivery, or local partnerships to amplify what's already working.</a:t>
            </a:r>
            <a:br>
              <a:rPr lang="en-US" sz="1600" dirty="0">
                <a:solidFill>
                  <a:schemeClr val="bg1"/>
                </a:solidFill>
              </a:rPr>
            </a:br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60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F6043-11CF-BD09-A33D-8BFEBBDD6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D1ACD93-1A76-A31A-D9A9-303AD6F090C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714" y="137886"/>
            <a:ext cx="1151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How do payment methods influence customer satisfaction and return rates?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AC4F5-D1D2-7C07-59EC-2BB257A05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34143"/>
            <a:ext cx="6400800" cy="56859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0F274D-D52B-6B05-7E4A-EEBCC4F35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1" y="1114650"/>
            <a:ext cx="5791198" cy="567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16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F4E0E-BAB4-B829-3227-8564AE1BA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D55C9C-2C83-BCED-660D-AD0F2FCD98FE}"/>
              </a:ext>
            </a:extLst>
          </p:cNvPr>
          <p:cNvSpPr txBox="1"/>
          <p:nvPr/>
        </p:nvSpPr>
        <p:spPr>
          <a:xfrm>
            <a:off x="0" y="0"/>
            <a:ext cx="12115800" cy="7702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5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bg1"/>
                </a:solidFill>
              </a:rPr>
              <a:t>Credit Card leads both metrics</a:t>
            </a:r>
            <a:r>
              <a:rPr lang="en-US" sz="1250" dirty="0">
                <a:solidFill>
                  <a:schemeClr val="bg1"/>
                </a:solidFill>
              </a:rPr>
              <a:t> — highest High Satisfaction rate at </a:t>
            </a:r>
            <a:r>
              <a:rPr lang="en-US" sz="1250" b="1" dirty="0">
                <a:solidFill>
                  <a:schemeClr val="bg1"/>
                </a:solidFill>
              </a:rPr>
              <a:t>34.7%</a:t>
            </a:r>
            <a:r>
              <a:rPr lang="en-US" sz="1250" dirty="0">
                <a:solidFill>
                  <a:schemeClr val="bg1"/>
                </a:solidFill>
              </a:rPr>
              <a:t> and highest Return Rate at </a:t>
            </a:r>
            <a:r>
              <a:rPr lang="en-US" sz="1250" b="1" dirty="0">
                <a:solidFill>
                  <a:schemeClr val="bg1"/>
                </a:solidFill>
              </a:rPr>
              <a:t>51.2%</a:t>
            </a:r>
            <a:r>
              <a:rPr lang="en-US" sz="1250" dirty="0">
                <a:solidFill>
                  <a:schemeClr val="bg1"/>
                </a:solidFill>
              </a:rPr>
              <a:t> — suggesting that customers who pay by credit card have a marginally smoother and more confident purchasing experience compared to other payment channels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5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bg1"/>
                </a:solidFill>
              </a:rPr>
              <a:t>Cash on Delivery performs worst across both indicators</a:t>
            </a:r>
            <a:r>
              <a:rPr lang="en-US" sz="1250" dirty="0">
                <a:solidFill>
                  <a:schemeClr val="bg1"/>
                </a:solidFill>
              </a:rPr>
              <a:t> — highest Low Satisfaction rate at </a:t>
            </a:r>
            <a:r>
              <a:rPr lang="en-US" sz="1250" b="1" dirty="0">
                <a:solidFill>
                  <a:schemeClr val="bg1"/>
                </a:solidFill>
              </a:rPr>
              <a:t>35.0%</a:t>
            </a:r>
            <a:r>
              <a:rPr lang="en-US" sz="1250" dirty="0">
                <a:solidFill>
                  <a:schemeClr val="bg1"/>
                </a:solidFill>
              </a:rPr>
              <a:t>, lowest High Satisfaction at </a:t>
            </a:r>
            <a:r>
              <a:rPr lang="en-US" sz="1250" b="1" dirty="0">
                <a:solidFill>
                  <a:schemeClr val="bg1"/>
                </a:solidFill>
              </a:rPr>
              <a:t>31.2%</a:t>
            </a:r>
            <a:r>
              <a:rPr lang="en-US" sz="1250" dirty="0">
                <a:solidFill>
                  <a:schemeClr val="bg1"/>
                </a:solidFill>
              </a:rPr>
              <a:t> and lowest Return Rate at </a:t>
            </a:r>
            <a:r>
              <a:rPr lang="en-US" sz="1250" b="1" dirty="0">
                <a:solidFill>
                  <a:schemeClr val="bg1"/>
                </a:solidFill>
              </a:rPr>
              <a:t>48.9%</a:t>
            </a:r>
            <a:r>
              <a:rPr lang="en-US" sz="1250" dirty="0">
                <a:solidFill>
                  <a:schemeClr val="bg1"/>
                </a:solidFill>
              </a:rPr>
              <a:t> — a consistent pattern suggesting the cash payment experience creates the most friction and leaves customers least satisfied and least likely to return.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5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bg1"/>
                </a:solidFill>
              </a:rPr>
              <a:t>Payment vs Satisfaction is statistically significant</a:t>
            </a:r>
            <a:r>
              <a:rPr lang="en-US" sz="1250" dirty="0">
                <a:solidFill>
                  <a:schemeClr val="bg1"/>
                </a:solidFill>
              </a:rPr>
              <a:t> (χ² = 15.8143, p = 0.0451) — confirming a real relationship exists between payment method choice and satisfaction level — however </a:t>
            </a:r>
            <a:r>
              <a:rPr lang="en-US" sz="1250" b="1" dirty="0">
                <a:solidFill>
                  <a:schemeClr val="bg1"/>
                </a:solidFill>
              </a:rPr>
              <a:t>Cramer's V = 0.0281 (Negligible)</a:t>
            </a:r>
            <a:r>
              <a:rPr lang="en-US" sz="1250" dirty="0">
                <a:solidFill>
                  <a:schemeClr val="bg1"/>
                </a:solidFill>
              </a:rPr>
              <a:t> reveals the practical impact is minimal — payment method explains only </a:t>
            </a:r>
            <a:r>
              <a:rPr lang="en-US" sz="1250" b="1" dirty="0">
                <a:solidFill>
                  <a:schemeClr val="bg1"/>
                </a:solidFill>
              </a:rPr>
              <a:t>0.08% of satisfaction variation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5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bg1"/>
                </a:solidFill>
              </a:rPr>
              <a:t>Payment vs Return Rate is NOT significant</a:t>
            </a:r>
            <a:r>
              <a:rPr lang="en-US" sz="1250" dirty="0">
                <a:solidFill>
                  <a:schemeClr val="bg1"/>
                </a:solidFill>
              </a:rPr>
              <a:t> (χ² = 3.0808, p = 0.5444) — confirming that payment method choice has </a:t>
            </a:r>
            <a:r>
              <a:rPr lang="en-US" sz="1250" b="1" dirty="0">
                <a:solidFill>
                  <a:schemeClr val="bg1"/>
                </a:solidFill>
              </a:rPr>
              <a:t>absolutely no influence</a:t>
            </a:r>
            <a:r>
              <a:rPr lang="en-US" sz="1250" dirty="0">
                <a:solidFill>
                  <a:schemeClr val="bg1"/>
                </a:solidFill>
              </a:rPr>
              <a:t> on whether a customer returns — a Credit Card user and a Cash on Delivery user are equally likely to come back regardless of their payment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5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The </a:t>
            </a:r>
            <a:r>
              <a:rPr lang="en-US" sz="1250" b="1" dirty="0">
                <a:solidFill>
                  <a:schemeClr val="bg1"/>
                </a:solidFill>
              </a:rPr>
              <a:t>2.3 percentage point gap</a:t>
            </a:r>
            <a:r>
              <a:rPr lang="en-US" sz="1250" dirty="0">
                <a:solidFill>
                  <a:schemeClr val="bg1"/>
                </a:solidFill>
              </a:rPr>
              <a:t> in return rate between Credit Card (51.2%) and Cash on Delivery (48.9%) — while the largest observed difference — is statistically confirmed as </a:t>
            </a:r>
            <a:r>
              <a:rPr lang="en-US" sz="1250" b="1" dirty="0">
                <a:solidFill>
                  <a:schemeClr val="bg1"/>
                </a:solidFill>
              </a:rPr>
              <a:t>random noise</a:t>
            </a:r>
            <a:r>
              <a:rPr lang="en-US" sz="1250" dirty="0">
                <a:solidFill>
                  <a:schemeClr val="bg1"/>
                </a:solidFill>
              </a:rPr>
              <a:t> (p = 0.5444) — meaning no payment method meaningfully drives customer loyalty in either direction.</a:t>
            </a:r>
            <a:br>
              <a:rPr lang="en-US" sz="1250" dirty="0">
                <a:solidFill>
                  <a:schemeClr val="bg1"/>
                </a:solidFill>
              </a:rPr>
            </a:br>
            <a:r>
              <a:rPr lang="en-US" sz="1250" b="1" dirty="0">
                <a:solidFill>
                  <a:schemeClr val="bg1"/>
                </a:solidFill>
              </a:rPr>
              <a:t>Prioritize Credit Card and Bank Transfer checkout optimization</a:t>
            </a:r>
            <a:r>
              <a:rPr lang="en-US" sz="1250" dirty="0">
                <a:solidFill>
                  <a:schemeClr val="bg1"/>
                </a:solidFill>
              </a:rPr>
              <a:t> — these two methods together serve </a:t>
            </a:r>
            <a:r>
              <a:rPr lang="en-US" sz="1250" b="1" dirty="0">
                <a:solidFill>
                  <a:schemeClr val="bg1"/>
                </a:solidFill>
              </a:rPr>
              <a:t>4,095 customers (41% of total)</a:t>
            </a:r>
            <a:r>
              <a:rPr lang="en-US" sz="1250" dirty="0">
                <a:solidFill>
                  <a:schemeClr val="bg1"/>
                </a:solidFill>
              </a:rPr>
              <a:t> and show the highest satisfaction and return rates — any friction in these payment flows directly impacts the business's most loyal customer segment — invest in </a:t>
            </a:r>
            <a:r>
              <a:rPr lang="en-US" sz="1250" b="1" dirty="0">
                <a:solidFill>
                  <a:schemeClr val="bg1"/>
                </a:solidFill>
              </a:rPr>
              <a:t>one-click payment, saved card features and instant confirmation</a:t>
            </a:r>
            <a:r>
              <a:rPr lang="en-US" sz="1250" dirty="0">
                <a:solidFill>
                  <a:schemeClr val="bg1"/>
                </a:solidFill>
              </a:rPr>
              <a:t> to protect this revenue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5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bg1"/>
                </a:solidFill>
              </a:rPr>
              <a:t>Urgently investigate the Cash on Delivery experience</a:t>
            </a:r>
            <a:r>
              <a:rPr lang="en-US" sz="1250" dirty="0">
                <a:solidFill>
                  <a:schemeClr val="bg1"/>
                </a:solidFill>
              </a:rPr>
              <a:t> — with the highest dissatisfaction rate (35.0% Low Satisfaction) and lowest return rate (48.9%) Cash on Delivery is the business's weakest loyalty channel — implement </a:t>
            </a:r>
            <a:r>
              <a:rPr lang="en-US" sz="1250" b="1" dirty="0">
                <a:solidFill>
                  <a:schemeClr val="bg1"/>
                </a:solidFill>
              </a:rPr>
              <a:t>real-time delivery tracking, SMS confirmation and flexible rescheduling</a:t>
            </a:r>
            <a:r>
              <a:rPr lang="en-US" sz="1250" dirty="0">
                <a:solidFill>
                  <a:schemeClr val="bg1"/>
                </a:solidFill>
              </a:rPr>
              <a:t> to reduce the uncertainty and frustration that COD customers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5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bg1"/>
                </a:solidFill>
              </a:rPr>
              <a:t>Convert Cash on Delivery customers to digital payments</a:t>
            </a:r>
            <a:r>
              <a:rPr lang="en-US" sz="1250" dirty="0">
                <a:solidFill>
                  <a:schemeClr val="bg1"/>
                </a:solidFill>
              </a:rPr>
              <a:t> — offer a </a:t>
            </a:r>
            <a:r>
              <a:rPr lang="en-US" sz="1250" b="1" dirty="0">
                <a:solidFill>
                  <a:schemeClr val="bg1"/>
                </a:solidFill>
              </a:rPr>
              <a:t>5% loyalty bonus or priority delivery</a:t>
            </a:r>
            <a:r>
              <a:rPr lang="en-US" sz="1250" dirty="0">
                <a:solidFill>
                  <a:schemeClr val="bg1"/>
                </a:solidFill>
              </a:rPr>
              <a:t> for customers who switch from COD to Credit Card or Bank Transfer — this would simultaneously reduce operational cash handling costs and improve the customer's payment experience — directly addressing the satisfaction gap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5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bg1"/>
                </a:solidFill>
              </a:rPr>
              <a:t>PayPal shows highest Medium Satisfaction (35.9%) but lowest High Satisfaction (31.5%)</a:t>
            </a:r>
            <a:r>
              <a:rPr lang="en-US" sz="1250" dirty="0">
                <a:solidFill>
                  <a:schemeClr val="bg1"/>
                </a:solidFill>
              </a:rPr>
              <a:t> — PayPal customers are neutrally satisfied but not delighted — implementing </a:t>
            </a:r>
            <a:r>
              <a:rPr lang="en-US" sz="1250" b="1" dirty="0">
                <a:solidFill>
                  <a:schemeClr val="bg1"/>
                </a:solidFill>
              </a:rPr>
              <a:t>PayPal-exclusive offers or instant cashback</a:t>
            </a:r>
            <a:r>
              <a:rPr lang="en-US" sz="1250" dirty="0">
                <a:solidFill>
                  <a:schemeClr val="bg1"/>
                </a:solidFill>
              </a:rPr>
              <a:t> could push this segment from neutral to highly satisfied — converting 35.9% medium satisfaction into high satisfaction represents </a:t>
            </a:r>
            <a:r>
              <a:rPr lang="en-US" sz="1250" b="1" dirty="0">
                <a:solidFill>
                  <a:schemeClr val="bg1"/>
                </a:solidFill>
              </a:rPr>
              <a:t>688 customers with immediate upsell 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5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bg1"/>
                </a:solidFill>
              </a:rPr>
              <a:t>Since payment method does not drive return rate</a:t>
            </a:r>
            <a:r>
              <a:rPr lang="en-US" sz="1250" dirty="0">
                <a:solidFill>
                  <a:schemeClr val="bg1"/>
                </a:solidFill>
              </a:rPr>
              <a:t> — the business should stop investing in payment-specific loyalty </a:t>
            </a:r>
            <a:r>
              <a:rPr lang="en-US" sz="1250" dirty="0" err="1">
                <a:solidFill>
                  <a:schemeClr val="bg1"/>
                </a:solidFill>
              </a:rPr>
              <a:t>programmes</a:t>
            </a:r>
            <a:r>
              <a:rPr lang="en-US" sz="1250" dirty="0">
                <a:solidFill>
                  <a:schemeClr val="bg1"/>
                </a:solidFill>
              </a:rPr>
              <a:t> and instead focus on </a:t>
            </a:r>
            <a:r>
              <a:rPr lang="en-US" sz="1250" b="1" dirty="0">
                <a:solidFill>
                  <a:schemeClr val="bg1"/>
                </a:solidFill>
              </a:rPr>
              <a:t>post-purchase retention mechanisms</a:t>
            </a:r>
            <a:r>
              <a:rPr lang="en-US" sz="1250" dirty="0">
                <a:solidFill>
                  <a:schemeClr val="bg1"/>
                </a:solidFill>
              </a:rPr>
              <a:t> that work independently of payment channel — a universal loyalty points system, personalised follow-up emails and exclusive member offers would deliver higher return rate impact than any payment-specific initiative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endParaRPr lang="en-US" sz="13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59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8D826-0B91-A94B-EE8C-4B960C4E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15FE9C9-835D-838D-0A56-539CB58621E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714" y="137886"/>
            <a:ext cx="1151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 How does the location influence both purchase amount and delivery time?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1DA91E-0259-BA25-554D-6100E7EC14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901"/>
            <a:ext cx="12192000" cy="626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63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3D815-1FFC-4487-EF6E-AF45505F9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52F549B-3942-54BA-46FD-2A6CDAB66F7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714" y="137886"/>
            <a:ext cx="1151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 How does the location influence both purchase amount and delivery time?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580681-FF87-C62A-E945-A84C0E6FB9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8857" y="617674"/>
            <a:ext cx="12192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Negative correlation (r ≈ -0.353) shows higher spend slightly links to faster delivery.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Rajshahi shows high delivery time with higher return rate concern. 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Mymensingh has slow delivery despite high spend levels. 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Barisal combines high spend with slower delivery performance. 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Chittagong shows high spend but not optimal delivery speed. 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Rangpur has low spend with average delivery performance. 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Sylhet shows low spend with slightly better delivery balance. 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Khulna shows fast delivery but highest spend levels. 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Higher return rates cluster around slower delivery regions.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Delivery performance is not strongly driven by customer spend. 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Improving logistics in slow regions can reduce returns and increase value. </a:t>
            </a:r>
          </a:p>
        </p:txBody>
      </p:sp>
    </p:spTree>
    <p:extLst>
      <p:ext uri="{BB962C8B-B14F-4D97-AF65-F5344CB8AC3E}">
        <p14:creationId xmlns:p14="http://schemas.microsoft.com/office/powerpoint/2010/main" val="307087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1957</TotalTime>
  <Words>4498</Words>
  <Application>Microsoft Office PowerPoint</Application>
  <PresentationFormat>Widescreen</PresentationFormat>
  <Paragraphs>320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ADLaM Display</vt:lpstr>
      <vt:lpstr>Arial</vt:lpstr>
      <vt:lpstr>Calibri</vt:lpstr>
      <vt:lpstr>Montserrat SemiBold Italic</vt:lpstr>
      <vt:lpstr>Trade Gothic LT Pro</vt:lpstr>
      <vt:lpstr>Trebuchet MS</vt:lpstr>
      <vt:lpstr>Office Theme</vt:lpstr>
      <vt:lpstr>E-Commerce Customer Behavior 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wasi yamin</dc:creator>
  <cp:lastModifiedBy>t45156</cp:lastModifiedBy>
  <cp:revision>15</cp:revision>
  <dcterms:created xsi:type="dcterms:W3CDTF">2026-05-16T14:59:21Z</dcterms:created>
  <dcterms:modified xsi:type="dcterms:W3CDTF">2026-06-05T00:22:33Z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