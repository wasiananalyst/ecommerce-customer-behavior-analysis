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1" r:id="rId3"/>
    <p:sldId id="262"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p:cViewPr varScale="1">
        <p:scale>
          <a:sx n="63" d="100"/>
          <a:sy n="63" d="100"/>
        </p:scale>
        <p:origin x="7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C2062-0C23-469B-9217-5303C026F9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0774B7-5D3D-46E9-A386-6F087BC1D5F0}"/>
              </a:ext>
            </a:extLst>
          </p:cNvPr>
          <p:cNvSpPr>
            <a:spLocks noGrp="1"/>
          </p:cNvSpPr>
          <p:nvPr>
            <p:ph type="subTitle" idx="1"/>
          </p:nvPr>
        </p:nvSpPr>
        <p:spPr>
          <a:xfrm>
            <a:off x="1524000" y="3602038"/>
            <a:ext cx="9144000" cy="1655762"/>
          </a:xfrm>
        </p:spPr>
        <p:txBody>
          <a:bodyPr/>
          <a:lstStyle>
            <a:lvl1pPr marL="0" indent="0" algn="ctr">
              <a:buNone/>
              <a:defRPr sz="2400"/>
            </a:lvl1pPr>
            <a:lvl2pPr marL="457230" indent="0" algn="ctr">
              <a:buNone/>
              <a:defRPr sz="2000"/>
            </a:lvl2pPr>
            <a:lvl3pPr marL="914460" indent="0" algn="ctr">
              <a:buNone/>
              <a:defRPr sz="1801"/>
            </a:lvl3pPr>
            <a:lvl4pPr marL="1371690" indent="0" algn="ctr">
              <a:buNone/>
              <a:defRPr sz="1600"/>
            </a:lvl4pPr>
            <a:lvl5pPr marL="1828920" indent="0" algn="ctr">
              <a:buNone/>
              <a:defRPr sz="1600"/>
            </a:lvl5pPr>
            <a:lvl6pPr marL="2286150" indent="0" algn="ctr">
              <a:buNone/>
              <a:defRPr sz="1600"/>
            </a:lvl6pPr>
            <a:lvl7pPr marL="2743380" indent="0" algn="ctr">
              <a:buNone/>
              <a:defRPr sz="1600"/>
            </a:lvl7pPr>
            <a:lvl8pPr marL="3200610" indent="0" algn="ctr">
              <a:buNone/>
              <a:defRPr sz="1600"/>
            </a:lvl8pPr>
            <a:lvl9pPr marL="365784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212FE6-50B4-46E6-8EC8-C7CE0FC4E448}"/>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5" name="Footer Placeholder 4">
            <a:extLst>
              <a:ext uri="{FF2B5EF4-FFF2-40B4-BE49-F238E27FC236}">
                <a16:creationId xmlns:a16="http://schemas.microsoft.com/office/drawing/2014/main" id="{D993BF17-120B-4D85-9525-0011A0B0E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80F9B-9880-4C97-82C9-BBAAA25FC295}"/>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1263230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711DB-A92E-4CDD-97BD-CEA697D11D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F17D98-CF9F-429D-B74C-393AD26EED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427F5-BD4E-45D4-9700-FA3EF71E903C}"/>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5" name="Footer Placeholder 4">
            <a:extLst>
              <a:ext uri="{FF2B5EF4-FFF2-40B4-BE49-F238E27FC236}">
                <a16:creationId xmlns:a16="http://schemas.microsoft.com/office/drawing/2014/main" id="{BA44FD0D-746E-4703-B123-BA946EF6A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8CA49-74C2-438C-9601-AE4AFB682CAE}"/>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1708635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6132F-B3E1-43ED-A237-2EA271A3BC00}"/>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6316F4-F290-465B-8F09-2F7273D5EC32}"/>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30" indent="0">
              <a:buNone/>
              <a:defRPr sz="2000">
                <a:solidFill>
                  <a:schemeClr val="tx1">
                    <a:tint val="75000"/>
                  </a:schemeClr>
                </a:solidFill>
              </a:defRPr>
            </a:lvl2pPr>
            <a:lvl3pPr marL="914460" indent="0">
              <a:buNone/>
              <a:defRPr sz="1801">
                <a:solidFill>
                  <a:schemeClr val="tx1">
                    <a:tint val="75000"/>
                  </a:schemeClr>
                </a:solidFill>
              </a:defRPr>
            </a:lvl3pPr>
            <a:lvl4pPr marL="1371690" indent="0">
              <a:buNone/>
              <a:defRPr sz="1600">
                <a:solidFill>
                  <a:schemeClr val="tx1">
                    <a:tint val="75000"/>
                  </a:schemeClr>
                </a:solidFill>
              </a:defRPr>
            </a:lvl4pPr>
            <a:lvl5pPr marL="1828920" indent="0">
              <a:buNone/>
              <a:defRPr sz="1600">
                <a:solidFill>
                  <a:schemeClr val="tx1">
                    <a:tint val="75000"/>
                  </a:schemeClr>
                </a:solidFill>
              </a:defRPr>
            </a:lvl5pPr>
            <a:lvl6pPr marL="2286150" indent="0">
              <a:buNone/>
              <a:defRPr sz="1600">
                <a:solidFill>
                  <a:schemeClr val="tx1">
                    <a:tint val="75000"/>
                  </a:schemeClr>
                </a:solidFill>
              </a:defRPr>
            </a:lvl6pPr>
            <a:lvl7pPr marL="2743380" indent="0">
              <a:buNone/>
              <a:defRPr sz="1600">
                <a:solidFill>
                  <a:schemeClr val="tx1">
                    <a:tint val="75000"/>
                  </a:schemeClr>
                </a:solidFill>
              </a:defRPr>
            </a:lvl7pPr>
            <a:lvl8pPr marL="3200610" indent="0">
              <a:buNone/>
              <a:defRPr sz="1600">
                <a:solidFill>
                  <a:schemeClr val="tx1">
                    <a:tint val="75000"/>
                  </a:schemeClr>
                </a:solidFill>
              </a:defRPr>
            </a:lvl8pPr>
            <a:lvl9pPr marL="365784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2BF568-B158-4E0C-8736-D2F79362FD23}"/>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5" name="Footer Placeholder 4">
            <a:extLst>
              <a:ext uri="{FF2B5EF4-FFF2-40B4-BE49-F238E27FC236}">
                <a16:creationId xmlns:a16="http://schemas.microsoft.com/office/drawing/2014/main" id="{D226D7E5-6EB4-4162-9196-B92DD1216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60028-3762-47EC-963B-89200B5369D4}"/>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40698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EBFD-5E9C-450E-AF18-4A4CE5377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E70DB1-2809-4A85-BB28-341B5979E83B}"/>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BE2B96-397C-4A4F-A5A0-CDADE29F5C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2A4C2B-E9E6-4D64-8F23-C59C8275F17F}"/>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6" name="Footer Placeholder 5">
            <a:extLst>
              <a:ext uri="{FF2B5EF4-FFF2-40B4-BE49-F238E27FC236}">
                <a16:creationId xmlns:a16="http://schemas.microsoft.com/office/drawing/2014/main" id="{491E63B3-B97F-42D6-B1AE-F582732964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1332CD-38A8-4A76-B60D-62817E265A3F}"/>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3784222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BAD3B-0D24-46EB-859D-533FDA14F2E1}"/>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5AC089-F518-4F41-90BC-BF469DB1AD3F}"/>
              </a:ext>
            </a:extLst>
          </p:cNvPr>
          <p:cNvSpPr>
            <a:spLocks noGrp="1"/>
          </p:cNvSpPr>
          <p:nvPr>
            <p:ph type="body" idx="1"/>
          </p:nvPr>
        </p:nvSpPr>
        <p:spPr>
          <a:xfrm>
            <a:off x="839789" y="1681163"/>
            <a:ext cx="5157787" cy="823912"/>
          </a:xfrm>
        </p:spPr>
        <p:txBody>
          <a:bodyPr anchor="b"/>
          <a:lstStyle>
            <a:lvl1pPr marL="0" indent="0">
              <a:buNone/>
              <a:defRPr sz="2400" b="1"/>
            </a:lvl1pPr>
            <a:lvl2pPr marL="457230" indent="0">
              <a:buNone/>
              <a:defRPr sz="2000" b="1"/>
            </a:lvl2pPr>
            <a:lvl3pPr marL="914460" indent="0">
              <a:buNone/>
              <a:defRPr sz="1801" b="1"/>
            </a:lvl3pPr>
            <a:lvl4pPr marL="1371690" indent="0">
              <a:buNone/>
              <a:defRPr sz="1600" b="1"/>
            </a:lvl4pPr>
            <a:lvl5pPr marL="1828920" indent="0">
              <a:buNone/>
              <a:defRPr sz="1600" b="1"/>
            </a:lvl5pPr>
            <a:lvl6pPr marL="2286150" indent="0">
              <a:buNone/>
              <a:defRPr sz="1600" b="1"/>
            </a:lvl6pPr>
            <a:lvl7pPr marL="2743380" indent="0">
              <a:buNone/>
              <a:defRPr sz="1600" b="1"/>
            </a:lvl7pPr>
            <a:lvl8pPr marL="3200610" indent="0">
              <a:buNone/>
              <a:defRPr sz="1600" b="1"/>
            </a:lvl8pPr>
            <a:lvl9pPr marL="365784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0328CB-7B04-42D5-AB28-9EAD1DAFC7F4}"/>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285951-FF35-43E1-99E1-96716114D380}"/>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30" indent="0">
              <a:buNone/>
              <a:defRPr sz="2000" b="1"/>
            </a:lvl2pPr>
            <a:lvl3pPr marL="914460" indent="0">
              <a:buNone/>
              <a:defRPr sz="1801" b="1"/>
            </a:lvl3pPr>
            <a:lvl4pPr marL="1371690" indent="0">
              <a:buNone/>
              <a:defRPr sz="1600" b="1"/>
            </a:lvl4pPr>
            <a:lvl5pPr marL="1828920" indent="0">
              <a:buNone/>
              <a:defRPr sz="1600" b="1"/>
            </a:lvl5pPr>
            <a:lvl6pPr marL="2286150" indent="0">
              <a:buNone/>
              <a:defRPr sz="1600" b="1"/>
            </a:lvl6pPr>
            <a:lvl7pPr marL="2743380" indent="0">
              <a:buNone/>
              <a:defRPr sz="1600" b="1"/>
            </a:lvl7pPr>
            <a:lvl8pPr marL="3200610" indent="0">
              <a:buNone/>
              <a:defRPr sz="1600" b="1"/>
            </a:lvl8pPr>
            <a:lvl9pPr marL="365784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5490A2-DEFE-423A-AC62-2167B4858E17}"/>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CFDFA7-4A00-4ABC-86C2-9571134E9D2C}"/>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8" name="Footer Placeholder 7">
            <a:extLst>
              <a:ext uri="{FF2B5EF4-FFF2-40B4-BE49-F238E27FC236}">
                <a16:creationId xmlns:a16="http://schemas.microsoft.com/office/drawing/2014/main" id="{D6CBF418-027D-47C3-93BF-A1595C073B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AABC59-3EE9-414C-AD55-33C211DBF70B}"/>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355556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D8DB-4698-412F-B0B4-CC0399CB83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F3B7A6-2E78-457E-97FE-596C3C37774E}"/>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4" name="Footer Placeholder 3">
            <a:extLst>
              <a:ext uri="{FF2B5EF4-FFF2-40B4-BE49-F238E27FC236}">
                <a16:creationId xmlns:a16="http://schemas.microsoft.com/office/drawing/2014/main" id="{7CAF0CBE-1B3A-4BDD-B05B-BC372B4E8D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A0411A-0EE9-4DA3-9E40-5EF02DE06225}"/>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4230614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3877D3-0C01-41A3-967A-2961A7C6D39D}"/>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3" name="Footer Placeholder 2">
            <a:extLst>
              <a:ext uri="{FF2B5EF4-FFF2-40B4-BE49-F238E27FC236}">
                <a16:creationId xmlns:a16="http://schemas.microsoft.com/office/drawing/2014/main" id="{F26A6C19-904B-4C40-B550-30A3974F99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FB9ED1-7D21-4219-AB6F-24EBB55C8150}"/>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2545701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1349-9268-42CB-B465-1BF7C595718D}"/>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3B2825-5982-41AA-8438-A590F463E035}"/>
              </a:ext>
            </a:extLst>
          </p:cNvPr>
          <p:cNvSpPr>
            <a:spLocks noGrp="1"/>
          </p:cNvSpPr>
          <p:nvPr>
            <p:ph idx="1"/>
          </p:nvPr>
        </p:nvSpPr>
        <p:spPr>
          <a:xfrm>
            <a:off x="5183189"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0B2C92-4E5A-416F-8189-6F320EBC6D23}"/>
              </a:ext>
            </a:extLst>
          </p:cNvPr>
          <p:cNvSpPr>
            <a:spLocks noGrp="1"/>
          </p:cNvSpPr>
          <p:nvPr>
            <p:ph type="body" sz="half" idx="2"/>
          </p:nvPr>
        </p:nvSpPr>
        <p:spPr>
          <a:xfrm>
            <a:off x="839789" y="2057400"/>
            <a:ext cx="3932237" cy="3811588"/>
          </a:xfrm>
        </p:spPr>
        <p:txBody>
          <a:bodyPr/>
          <a:lstStyle>
            <a:lvl1pPr marL="0" indent="0">
              <a:buNone/>
              <a:defRPr sz="1600"/>
            </a:lvl1pPr>
            <a:lvl2pPr marL="457230" indent="0">
              <a:buNone/>
              <a:defRPr sz="1401"/>
            </a:lvl2pPr>
            <a:lvl3pPr marL="914460" indent="0">
              <a:buNone/>
              <a:defRPr sz="1200"/>
            </a:lvl3pPr>
            <a:lvl4pPr marL="1371690" indent="0">
              <a:buNone/>
              <a:defRPr sz="1001"/>
            </a:lvl4pPr>
            <a:lvl5pPr marL="1828920" indent="0">
              <a:buNone/>
              <a:defRPr sz="1001"/>
            </a:lvl5pPr>
            <a:lvl6pPr marL="2286150" indent="0">
              <a:buNone/>
              <a:defRPr sz="1001"/>
            </a:lvl6pPr>
            <a:lvl7pPr marL="2743380" indent="0">
              <a:buNone/>
              <a:defRPr sz="1001"/>
            </a:lvl7pPr>
            <a:lvl8pPr marL="3200610" indent="0">
              <a:buNone/>
              <a:defRPr sz="1001"/>
            </a:lvl8pPr>
            <a:lvl9pPr marL="3657840"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C0D7FA8D-A522-4188-B103-6D1226B406A3}"/>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6" name="Footer Placeholder 5">
            <a:extLst>
              <a:ext uri="{FF2B5EF4-FFF2-40B4-BE49-F238E27FC236}">
                <a16:creationId xmlns:a16="http://schemas.microsoft.com/office/drawing/2014/main" id="{DAFC9C55-DC22-4719-89B9-B496B4236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4EB23-9CB3-49A1-ABA3-8D86C19C1911}"/>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1834293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F628-9CB7-4C3C-A4B5-7172FC63C2E4}"/>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F95D1F-551A-4260-BB5E-F6B4696343D1}"/>
              </a:ext>
            </a:extLst>
          </p:cNvPr>
          <p:cNvSpPr>
            <a:spLocks noGrp="1"/>
          </p:cNvSpPr>
          <p:nvPr>
            <p:ph type="pic" idx="1"/>
          </p:nvPr>
        </p:nvSpPr>
        <p:spPr>
          <a:xfrm>
            <a:off x="5183189" y="987427"/>
            <a:ext cx="6172200" cy="4873625"/>
          </a:xfrm>
        </p:spPr>
        <p:txBody>
          <a:bodyPr/>
          <a:lstStyle>
            <a:lvl1pPr marL="0" indent="0">
              <a:buNone/>
              <a:defRPr sz="3200"/>
            </a:lvl1pPr>
            <a:lvl2pPr marL="457230" indent="0">
              <a:buNone/>
              <a:defRPr sz="2800"/>
            </a:lvl2pPr>
            <a:lvl3pPr marL="914460" indent="0">
              <a:buNone/>
              <a:defRPr sz="2400"/>
            </a:lvl3pPr>
            <a:lvl4pPr marL="1371690" indent="0">
              <a:buNone/>
              <a:defRPr sz="2000"/>
            </a:lvl4pPr>
            <a:lvl5pPr marL="1828920" indent="0">
              <a:buNone/>
              <a:defRPr sz="2000"/>
            </a:lvl5pPr>
            <a:lvl6pPr marL="2286150" indent="0">
              <a:buNone/>
              <a:defRPr sz="2000"/>
            </a:lvl6pPr>
            <a:lvl7pPr marL="2743380" indent="0">
              <a:buNone/>
              <a:defRPr sz="2000"/>
            </a:lvl7pPr>
            <a:lvl8pPr marL="3200610" indent="0">
              <a:buNone/>
              <a:defRPr sz="2000"/>
            </a:lvl8pPr>
            <a:lvl9pPr marL="3657840" indent="0">
              <a:buNone/>
              <a:defRPr sz="2000"/>
            </a:lvl9pPr>
          </a:lstStyle>
          <a:p>
            <a:endParaRPr lang="en-US"/>
          </a:p>
        </p:txBody>
      </p:sp>
      <p:sp>
        <p:nvSpPr>
          <p:cNvPr id="4" name="Text Placeholder 3">
            <a:extLst>
              <a:ext uri="{FF2B5EF4-FFF2-40B4-BE49-F238E27FC236}">
                <a16:creationId xmlns:a16="http://schemas.microsoft.com/office/drawing/2014/main" id="{BD9C97E1-F7E9-4942-98AE-6D7A60FAB358}"/>
              </a:ext>
            </a:extLst>
          </p:cNvPr>
          <p:cNvSpPr>
            <a:spLocks noGrp="1"/>
          </p:cNvSpPr>
          <p:nvPr>
            <p:ph type="body" sz="half" idx="2"/>
          </p:nvPr>
        </p:nvSpPr>
        <p:spPr>
          <a:xfrm>
            <a:off x="839789" y="2057400"/>
            <a:ext cx="3932237" cy="3811588"/>
          </a:xfrm>
        </p:spPr>
        <p:txBody>
          <a:bodyPr/>
          <a:lstStyle>
            <a:lvl1pPr marL="0" indent="0">
              <a:buNone/>
              <a:defRPr sz="1600"/>
            </a:lvl1pPr>
            <a:lvl2pPr marL="457230" indent="0">
              <a:buNone/>
              <a:defRPr sz="1401"/>
            </a:lvl2pPr>
            <a:lvl3pPr marL="914460" indent="0">
              <a:buNone/>
              <a:defRPr sz="1200"/>
            </a:lvl3pPr>
            <a:lvl4pPr marL="1371690" indent="0">
              <a:buNone/>
              <a:defRPr sz="1001"/>
            </a:lvl4pPr>
            <a:lvl5pPr marL="1828920" indent="0">
              <a:buNone/>
              <a:defRPr sz="1001"/>
            </a:lvl5pPr>
            <a:lvl6pPr marL="2286150" indent="0">
              <a:buNone/>
              <a:defRPr sz="1001"/>
            </a:lvl6pPr>
            <a:lvl7pPr marL="2743380" indent="0">
              <a:buNone/>
              <a:defRPr sz="1001"/>
            </a:lvl7pPr>
            <a:lvl8pPr marL="3200610" indent="0">
              <a:buNone/>
              <a:defRPr sz="1001"/>
            </a:lvl8pPr>
            <a:lvl9pPr marL="3657840"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2816D71E-6CD6-4B47-A54B-633FDE6CF46C}"/>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6" name="Footer Placeholder 5">
            <a:extLst>
              <a:ext uri="{FF2B5EF4-FFF2-40B4-BE49-F238E27FC236}">
                <a16:creationId xmlns:a16="http://schemas.microsoft.com/office/drawing/2014/main" id="{2F2934ED-E6F3-4A63-8185-0FB4120B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5D902-F0BB-47B6-842C-0E96EDED258E}"/>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1403519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BC746-6316-4215-80AC-69F562CE35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D3D480-EF3A-4102-9DE1-EF06FA026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29C005-90FD-43BE-95D9-89DAC6296DAE}"/>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5" name="Footer Placeholder 4">
            <a:extLst>
              <a:ext uri="{FF2B5EF4-FFF2-40B4-BE49-F238E27FC236}">
                <a16:creationId xmlns:a16="http://schemas.microsoft.com/office/drawing/2014/main" id="{B47AA660-8F1E-4EC7-A387-D0FF2E1AC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6277E-82C3-40E6-9916-9B273D857243}"/>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173992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FA29C-812D-401E-9251-0DE2F2677C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3C4407-A6C8-4C31-8E2A-469CEBB8DA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67D2AE-E08C-4107-89B7-E50C673536DB}"/>
              </a:ext>
            </a:extLst>
          </p:cNvPr>
          <p:cNvSpPr>
            <a:spLocks noGrp="1"/>
          </p:cNvSpPr>
          <p:nvPr>
            <p:ph type="dt" sz="half" idx="10"/>
          </p:nvPr>
        </p:nvSpPr>
        <p:spPr/>
        <p:txBody>
          <a:bodyPr/>
          <a:lstStyle/>
          <a:p>
            <a:fld id="{95238D4E-021D-4603-92A3-E28CF09E1105}" type="datetimeFigureOut">
              <a:rPr lang="en-US" smtClean="0"/>
              <a:t>6/5/2026</a:t>
            </a:fld>
            <a:endParaRPr lang="en-US"/>
          </a:p>
        </p:txBody>
      </p:sp>
      <p:sp>
        <p:nvSpPr>
          <p:cNvPr id="5" name="Footer Placeholder 4">
            <a:extLst>
              <a:ext uri="{FF2B5EF4-FFF2-40B4-BE49-F238E27FC236}">
                <a16:creationId xmlns:a16="http://schemas.microsoft.com/office/drawing/2014/main" id="{778DDB6F-AFCC-44B1-8A0D-5358F719E3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8D9FE-0EAB-4344-B825-71AB0C23C097}"/>
              </a:ext>
            </a:extLst>
          </p:cNvPr>
          <p:cNvSpPr>
            <a:spLocks noGrp="1"/>
          </p:cNvSpPr>
          <p:nvPr>
            <p:ph type="sldNum" sz="quarter" idx="12"/>
          </p:nvPr>
        </p:nvSpPr>
        <p:spPr/>
        <p:txBody>
          <a:bodyPr/>
          <a:lstStyle/>
          <a:p>
            <a:fld id="{AEFC53BF-6464-4482-877E-1AFB7E51C28F}" type="slidenum">
              <a:rPr lang="en-US" smtClean="0"/>
              <a:t>‹#›</a:t>
            </a:fld>
            <a:endParaRPr lang="en-US"/>
          </a:p>
        </p:txBody>
      </p:sp>
    </p:spTree>
    <p:extLst>
      <p:ext uri="{BB962C8B-B14F-4D97-AF65-F5344CB8AC3E}">
        <p14:creationId xmlns:p14="http://schemas.microsoft.com/office/powerpoint/2010/main" val="2201355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F5940-6CB0-4043-8A3A-57D62327ADA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E83FE8-CFC9-48A3-860E-9CBEDBDB83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A32257-5AA0-45B7-A84E-7909A406D46A}"/>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38D4E-021D-4603-92A3-E28CF09E1105}" type="datetimeFigureOut">
              <a:rPr lang="en-US" smtClean="0"/>
              <a:t>6/5/2026</a:t>
            </a:fld>
            <a:endParaRPr lang="en-US"/>
          </a:p>
        </p:txBody>
      </p:sp>
      <p:sp>
        <p:nvSpPr>
          <p:cNvPr id="5" name="Footer Placeholder 4">
            <a:extLst>
              <a:ext uri="{FF2B5EF4-FFF2-40B4-BE49-F238E27FC236}">
                <a16:creationId xmlns:a16="http://schemas.microsoft.com/office/drawing/2014/main" id="{28D7926C-0737-419B-8521-FE57B106E86F}"/>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B21673-6627-4545-86AE-4E2EEE398750}"/>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C53BF-6464-4482-877E-1AFB7E51C28F}" type="slidenum">
              <a:rPr lang="en-US" smtClean="0"/>
              <a:t>‹#›</a:t>
            </a:fld>
            <a:endParaRPr lang="en-US"/>
          </a:p>
        </p:txBody>
      </p:sp>
    </p:spTree>
    <p:extLst>
      <p:ext uri="{BB962C8B-B14F-4D97-AF65-F5344CB8AC3E}">
        <p14:creationId xmlns:p14="http://schemas.microsoft.com/office/powerpoint/2010/main" val="2435082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6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6" indent="-228616" algn="l" defTabSz="914460"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46" indent="-228616" algn="l" defTabSz="91446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76" indent="-228616" algn="l" defTabSz="91446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06" indent="-228616" algn="l" defTabSz="91446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536" indent="-228616" algn="l" defTabSz="91446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766" indent="-228616" algn="l" defTabSz="91446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96" indent="-228616" algn="l" defTabSz="91446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226" indent="-228616" algn="l" defTabSz="91446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456" indent="-228616" algn="l" defTabSz="91446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60" rtl="0" eaLnBrk="1" latinLnBrk="0" hangingPunct="1">
        <a:defRPr sz="1801" kern="1200">
          <a:solidFill>
            <a:schemeClr val="tx1"/>
          </a:solidFill>
          <a:latin typeface="+mn-lt"/>
          <a:ea typeface="+mn-ea"/>
          <a:cs typeface="+mn-cs"/>
        </a:defRPr>
      </a:lvl1pPr>
      <a:lvl2pPr marL="457230" algn="l" defTabSz="914460" rtl="0" eaLnBrk="1" latinLnBrk="0" hangingPunct="1">
        <a:defRPr sz="1801" kern="1200">
          <a:solidFill>
            <a:schemeClr val="tx1"/>
          </a:solidFill>
          <a:latin typeface="+mn-lt"/>
          <a:ea typeface="+mn-ea"/>
          <a:cs typeface="+mn-cs"/>
        </a:defRPr>
      </a:lvl2pPr>
      <a:lvl3pPr marL="914460" algn="l" defTabSz="914460" rtl="0" eaLnBrk="1" latinLnBrk="0" hangingPunct="1">
        <a:defRPr sz="1801" kern="1200">
          <a:solidFill>
            <a:schemeClr val="tx1"/>
          </a:solidFill>
          <a:latin typeface="+mn-lt"/>
          <a:ea typeface="+mn-ea"/>
          <a:cs typeface="+mn-cs"/>
        </a:defRPr>
      </a:lvl3pPr>
      <a:lvl4pPr marL="1371690" algn="l" defTabSz="914460" rtl="0" eaLnBrk="1" latinLnBrk="0" hangingPunct="1">
        <a:defRPr sz="1801" kern="1200">
          <a:solidFill>
            <a:schemeClr val="tx1"/>
          </a:solidFill>
          <a:latin typeface="+mn-lt"/>
          <a:ea typeface="+mn-ea"/>
          <a:cs typeface="+mn-cs"/>
        </a:defRPr>
      </a:lvl4pPr>
      <a:lvl5pPr marL="1828920" algn="l" defTabSz="914460" rtl="0" eaLnBrk="1" latinLnBrk="0" hangingPunct="1">
        <a:defRPr sz="1801" kern="1200">
          <a:solidFill>
            <a:schemeClr val="tx1"/>
          </a:solidFill>
          <a:latin typeface="+mn-lt"/>
          <a:ea typeface="+mn-ea"/>
          <a:cs typeface="+mn-cs"/>
        </a:defRPr>
      </a:lvl5pPr>
      <a:lvl6pPr marL="2286150" algn="l" defTabSz="914460" rtl="0" eaLnBrk="1" latinLnBrk="0" hangingPunct="1">
        <a:defRPr sz="1801" kern="1200">
          <a:solidFill>
            <a:schemeClr val="tx1"/>
          </a:solidFill>
          <a:latin typeface="+mn-lt"/>
          <a:ea typeface="+mn-ea"/>
          <a:cs typeface="+mn-cs"/>
        </a:defRPr>
      </a:lvl6pPr>
      <a:lvl7pPr marL="2743380" algn="l" defTabSz="914460" rtl="0" eaLnBrk="1" latinLnBrk="0" hangingPunct="1">
        <a:defRPr sz="1801" kern="1200">
          <a:solidFill>
            <a:schemeClr val="tx1"/>
          </a:solidFill>
          <a:latin typeface="+mn-lt"/>
          <a:ea typeface="+mn-ea"/>
          <a:cs typeface="+mn-cs"/>
        </a:defRPr>
      </a:lvl7pPr>
      <a:lvl8pPr marL="3200610" algn="l" defTabSz="914460" rtl="0" eaLnBrk="1" latinLnBrk="0" hangingPunct="1">
        <a:defRPr sz="1801" kern="1200">
          <a:solidFill>
            <a:schemeClr val="tx1"/>
          </a:solidFill>
          <a:latin typeface="+mn-lt"/>
          <a:ea typeface="+mn-ea"/>
          <a:cs typeface="+mn-cs"/>
        </a:defRPr>
      </a:lvl8pPr>
      <a:lvl9pPr marL="3657840" algn="l" defTabSz="914460"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6AC377E9-6BB2-4089-83D0-3E22947C72F6}"/>
              </a:ext>
            </a:extLst>
          </p:cNvPr>
          <p:cNvSpPr txBox="1">
            <a:spLocks noGrp="1" noRot="1" noMove="1" noResize="1" noEditPoints="1" noAdjustHandles="1" noChangeArrowheads="1" noChangeShapeType="1"/>
          </p:cNvSpPr>
          <p:nvPr/>
        </p:nvSpPr>
        <p:spPr>
          <a:xfrm>
            <a:off x="-374273" y="-26365"/>
            <a:ext cx="12192000" cy="707886"/>
          </a:xfrm>
          <a:prstGeom prst="rect">
            <a:avLst/>
          </a:prstGeom>
          <a:noFill/>
        </p:spPr>
        <p:txBody>
          <a:bodyPr wrap="square" rtlCol="0">
            <a:spAutoFit/>
          </a:bodyPr>
          <a:lstStyle/>
          <a:p>
            <a:pPr algn="ctr"/>
            <a:r>
              <a:rPr lang="en-US" sz="4000" dirty="0">
                <a:effectLst>
                  <a:outerShdw blurRad="38100" dist="38100" dir="2700000" algn="tl">
                    <a:srgbClr val="000000">
                      <a:alpha val="43137"/>
                    </a:srgbClr>
                  </a:outerShdw>
                </a:effectLst>
                <a:latin typeface="Roboto Slab Light" pitchFamily="2" charset="0"/>
                <a:ea typeface="Roboto Slab Light" pitchFamily="2" charset="0"/>
                <a:cs typeface="BrowalliaUPC" panose="020B0502040204020203" pitchFamily="34" charset="-34"/>
              </a:rPr>
              <a:t>Recommendation Report</a:t>
            </a:r>
          </a:p>
        </p:txBody>
      </p:sp>
      <p:sp>
        <p:nvSpPr>
          <p:cNvPr id="27" name="Rectangle 26">
            <a:extLst>
              <a:ext uri="{FF2B5EF4-FFF2-40B4-BE49-F238E27FC236}">
                <a16:creationId xmlns:a16="http://schemas.microsoft.com/office/drawing/2014/main" id="{F2536BAB-A61F-4382-B9B5-2D118B90C590}"/>
              </a:ext>
            </a:extLst>
          </p:cNvPr>
          <p:cNvSpPr/>
          <p:nvPr/>
        </p:nvSpPr>
        <p:spPr>
          <a:xfrm>
            <a:off x="0" y="6535254"/>
            <a:ext cx="12192000" cy="3284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grpSp>
        <p:nvGrpSpPr>
          <p:cNvPr id="11" name="Group 10">
            <a:extLst>
              <a:ext uri="{FF2B5EF4-FFF2-40B4-BE49-F238E27FC236}">
                <a16:creationId xmlns:a16="http://schemas.microsoft.com/office/drawing/2014/main" id="{0339751E-4E1F-4DBA-A6F9-6545630144C1}"/>
              </a:ext>
            </a:extLst>
          </p:cNvPr>
          <p:cNvGrpSpPr/>
          <p:nvPr/>
        </p:nvGrpSpPr>
        <p:grpSpPr>
          <a:xfrm>
            <a:off x="1466420" y="1276047"/>
            <a:ext cx="9472995" cy="4580920"/>
            <a:chOff x="1389985" y="1298713"/>
            <a:chExt cx="9472995" cy="4580920"/>
          </a:xfrm>
        </p:grpSpPr>
        <p:grpSp>
          <p:nvGrpSpPr>
            <p:cNvPr id="24" name="Group 23">
              <a:extLst>
                <a:ext uri="{FF2B5EF4-FFF2-40B4-BE49-F238E27FC236}">
                  <a16:creationId xmlns:a16="http://schemas.microsoft.com/office/drawing/2014/main" id="{43F82CF1-01A1-4D8B-AB5A-E73E6B3B714C}"/>
                </a:ext>
              </a:extLst>
            </p:cNvPr>
            <p:cNvGrpSpPr/>
            <p:nvPr/>
          </p:nvGrpSpPr>
          <p:grpSpPr>
            <a:xfrm>
              <a:off x="1389985" y="1298713"/>
              <a:ext cx="9472995" cy="4580920"/>
              <a:chOff x="1321432" y="1282605"/>
              <a:chExt cx="8929692" cy="4318192"/>
            </a:xfrm>
          </p:grpSpPr>
          <p:grpSp>
            <p:nvGrpSpPr>
              <p:cNvPr id="4" name="Group 3">
                <a:extLst>
                  <a:ext uri="{FF2B5EF4-FFF2-40B4-BE49-F238E27FC236}">
                    <a16:creationId xmlns:a16="http://schemas.microsoft.com/office/drawing/2014/main" id="{A0CEF3CF-1968-45E6-B767-5903B92A7E3E}"/>
                  </a:ext>
                </a:extLst>
              </p:cNvPr>
              <p:cNvGrpSpPr/>
              <p:nvPr/>
            </p:nvGrpSpPr>
            <p:grpSpPr>
              <a:xfrm>
                <a:off x="1321432" y="1282605"/>
                <a:ext cx="4509224" cy="4318192"/>
                <a:chOff x="1977069" y="1416050"/>
                <a:chExt cx="4230525" cy="4051301"/>
              </a:xfrm>
            </p:grpSpPr>
            <p:sp>
              <p:nvSpPr>
                <p:cNvPr id="3" name="Oval 2">
                  <a:extLst>
                    <a:ext uri="{FF2B5EF4-FFF2-40B4-BE49-F238E27FC236}">
                      <a16:creationId xmlns:a16="http://schemas.microsoft.com/office/drawing/2014/main" id="{1494F254-2D59-47B8-A153-35736B0F8AD1}"/>
                    </a:ext>
                  </a:extLst>
                </p:cNvPr>
                <p:cNvSpPr/>
                <p:nvPr/>
              </p:nvSpPr>
              <p:spPr>
                <a:xfrm>
                  <a:off x="2454907" y="1978571"/>
                  <a:ext cx="3285494" cy="3285494"/>
                </a:xfrm>
                <a:prstGeom prst="ellipse">
                  <a:avLst/>
                </a:prstGeom>
                <a:noFill/>
                <a:ln w="1238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2" name="Pentagon 1">
                  <a:extLst>
                    <a:ext uri="{FF2B5EF4-FFF2-40B4-BE49-F238E27FC236}">
                      <a16:creationId xmlns:a16="http://schemas.microsoft.com/office/drawing/2014/main" id="{C4D06603-4602-4F4A-94A4-EB129A382705}"/>
                    </a:ext>
                  </a:extLst>
                </p:cNvPr>
                <p:cNvSpPr/>
                <p:nvPr/>
              </p:nvSpPr>
              <p:spPr>
                <a:xfrm>
                  <a:off x="3492817" y="1416050"/>
                  <a:ext cx="1226820" cy="1168400"/>
                </a:xfrm>
                <a:prstGeom prst="pentagon">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5" name="Pentagon 4">
                  <a:extLst>
                    <a:ext uri="{FF2B5EF4-FFF2-40B4-BE49-F238E27FC236}">
                      <a16:creationId xmlns:a16="http://schemas.microsoft.com/office/drawing/2014/main" id="{CF8F5B18-9839-4562-9048-897B8DC0E43A}"/>
                    </a:ext>
                  </a:extLst>
                </p:cNvPr>
                <p:cNvSpPr/>
                <p:nvPr/>
              </p:nvSpPr>
              <p:spPr>
                <a:xfrm>
                  <a:off x="4980774" y="2554561"/>
                  <a:ext cx="1226820" cy="1168400"/>
                </a:xfrm>
                <a:prstGeom prst="pentagon">
                  <a:avLst/>
                </a:prstGeom>
                <a:solidFill>
                  <a:schemeClr val="accent5"/>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6" name="Pentagon 5">
                  <a:extLst>
                    <a:ext uri="{FF2B5EF4-FFF2-40B4-BE49-F238E27FC236}">
                      <a16:creationId xmlns:a16="http://schemas.microsoft.com/office/drawing/2014/main" id="{AD0E4A24-9386-4E98-A43E-86257F207ECC}"/>
                    </a:ext>
                  </a:extLst>
                </p:cNvPr>
                <p:cNvSpPr/>
                <p:nvPr/>
              </p:nvSpPr>
              <p:spPr>
                <a:xfrm>
                  <a:off x="1977069" y="2522162"/>
                  <a:ext cx="1226820" cy="1168400"/>
                </a:xfrm>
                <a:prstGeom prst="pentagon">
                  <a:avLst/>
                </a:prstGeom>
                <a:solidFill>
                  <a:schemeClr val="accent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8" name="Pentagon 7">
                  <a:extLst>
                    <a:ext uri="{FF2B5EF4-FFF2-40B4-BE49-F238E27FC236}">
                      <a16:creationId xmlns:a16="http://schemas.microsoft.com/office/drawing/2014/main" id="{0EA42112-465A-4805-BD5F-00A48A2388BC}"/>
                    </a:ext>
                  </a:extLst>
                </p:cNvPr>
                <p:cNvSpPr/>
                <p:nvPr/>
              </p:nvSpPr>
              <p:spPr>
                <a:xfrm>
                  <a:off x="2519043" y="4298951"/>
                  <a:ext cx="1226820" cy="1168400"/>
                </a:xfrm>
                <a:prstGeom prst="pentagon">
                  <a:avLst/>
                </a:prstGeom>
                <a:solidFill>
                  <a:schemeClr val="accent6"/>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9" name="Pentagon 8">
                  <a:extLst>
                    <a:ext uri="{FF2B5EF4-FFF2-40B4-BE49-F238E27FC236}">
                      <a16:creationId xmlns:a16="http://schemas.microsoft.com/office/drawing/2014/main" id="{7983D833-7186-4956-8BAD-36B36AD640C9}"/>
                    </a:ext>
                  </a:extLst>
                </p:cNvPr>
                <p:cNvSpPr/>
                <p:nvPr/>
              </p:nvSpPr>
              <p:spPr>
                <a:xfrm>
                  <a:off x="4444996" y="4298951"/>
                  <a:ext cx="1226820" cy="1168400"/>
                </a:xfrm>
                <a:prstGeom prst="pentagon">
                  <a:avLst/>
                </a:prstGeom>
                <a:solidFill>
                  <a:schemeClr val="accent3"/>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grpSp>
          <p:sp>
            <p:nvSpPr>
              <p:cNvPr id="13" name="Pentagon 12">
                <a:extLst>
                  <a:ext uri="{FF2B5EF4-FFF2-40B4-BE49-F238E27FC236}">
                    <a16:creationId xmlns:a16="http://schemas.microsoft.com/office/drawing/2014/main" id="{4532A4FA-1545-4FAA-93FD-290264B22A4B}"/>
                  </a:ext>
                </a:extLst>
              </p:cNvPr>
              <p:cNvSpPr/>
              <p:nvPr/>
            </p:nvSpPr>
            <p:spPr>
              <a:xfrm>
                <a:off x="6807516" y="2857500"/>
                <a:ext cx="1226820" cy="1168400"/>
              </a:xfrm>
              <a:prstGeom prst="pentagon">
                <a:avLst/>
              </a:prstGeom>
              <a:solidFill>
                <a:schemeClr val="accent4">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4" name="Pentagon 13">
                <a:extLst>
                  <a:ext uri="{FF2B5EF4-FFF2-40B4-BE49-F238E27FC236}">
                    <a16:creationId xmlns:a16="http://schemas.microsoft.com/office/drawing/2014/main" id="{A49D6D20-8B80-4F2B-994D-2B9BEC3D568F}"/>
                  </a:ext>
                </a:extLst>
              </p:cNvPr>
              <p:cNvSpPr/>
              <p:nvPr/>
            </p:nvSpPr>
            <p:spPr>
              <a:xfrm>
                <a:off x="8966837" y="2857500"/>
                <a:ext cx="1226820" cy="1168400"/>
              </a:xfrm>
              <a:prstGeom prst="pentagon">
                <a:avLst/>
              </a:prstGeom>
              <a:solidFill>
                <a:schemeClr val="bg2">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0" name="TextBox 9">
                <a:extLst>
                  <a:ext uri="{FF2B5EF4-FFF2-40B4-BE49-F238E27FC236}">
                    <a16:creationId xmlns:a16="http://schemas.microsoft.com/office/drawing/2014/main" id="{429CC223-FEB5-43FA-A710-18C446F84FCE}"/>
                  </a:ext>
                </a:extLst>
              </p:cNvPr>
              <p:cNvSpPr txBox="1"/>
              <p:nvPr/>
            </p:nvSpPr>
            <p:spPr>
              <a:xfrm>
                <a:off x="3041880" y="1697518"/>
                <a:ext cx="1065253" cy="609262"/>
              </a:xfrm>
              <a:prstGeom prst="rect">
                <a:avLst/>
              </a:prstGeom>
              <a:noFill/>
            </p:spPr>
            <p:txBody>
              <a:bodyPr wrap="square" rtlCol="0">
                <a:spAutoFit/>
              </a:bodyPr>
              <a:lstStyle/>
              <a:p>
                <a:pPr algn="ctr"/>
                <a:r>
                  <a:rPr lang="en-US" sz="1200" dirty="0">
                    <a:solidFill>
                      <a:schemeClr val="bg1"/>
                    </a:solidFill>
                  </a:rPr>
                  <a:t>Customer Demographics</a:t>
                </a:r>
                <a:r>
                  <a:rPr lang="en-US" sz="1200" dirty="0">
                    <a:solidFill>
                      <a:schemeClr val="bg1"/>
                    </a:solidFill>
                    <a:latin typeface="Georgia Pro Light" panose="02040302050405020303" pitchFamily="18" charset="0"/>
                  </a:rPr>
                  <a:t> feasibility</a:t>
                </a:r>
              </a:p>
            </p:txBody>
          </p:sp>
          <p:sp>
            <p:nvSpPr>
              <p:cNvPr id="17" name="TextBox 16">
                <a:extLst>
                  <a:ext uri="{FF2B5EF4-FFF2-40B4-BE49-F238E27FC236}">
                    <a16:creationId xmlns:a16="http://schemas.microsoft.com/office/drawing/2014/main" id="{65D0DA9D-F025-4B47-96E3-531A372E7504}"/>
                  </a:ext>
                </a:extLst>
              </p:cNvPr>
              <p:cNvSpPr txBox="1"/>
              <p:nvPr/>
            </p:nvSpPr>
            <p:spPr>
              <a:xfrm>
                <a:off x="1473602" y="2887972"/>
                <a:ext cx="1003300" cy="609262"/>
              </a:xfrm>
              <a:prstGeom prst="rect">
                <a:avLst/>
              </a:prstGeom>
              <a:noFill/>
            </p:spPr>
            <p:txBody>
              <a:bodyPr wrap="square" rtlCol="0">
                <a:spAutoFit/>
              </a:bodyPr>
              <a:lstStyle/>
              <a:p>
                <a:pPr algn="ctr"/>
                <a:r>
                  <a:rPr lang="en-US" sz="1200" dirty="0">
                    <a:solidFill>
                      <a:schemeClr val="bg1"/>
                    </a:solidFill>
                  </a:rPr>
                  <a:t>Retention &amp; Loyalty</a:t>
                </a:r>
                <a:r>
                  <a:rPr lang="en-US" sz="1200" dirty="0">
                    <a:solidFill>
                      <a:schemeClr val="bg1"/>
                    </a:solidFill>
                    <a:latin typeface="Georgia Pro Light" panose="02040302050405020303" pitchFamily="18" charset="0"/>
                  </a:rPr>
                  <a:t> feasibility</a:t>
                </a:r>
              </a:p>
            </p:txBody>
          </p:sp>
          <p:sp>
            <p:nvSpPr>
              <p:cNvPr id="18" name="TextBox 17">
                <a:extLst>
                  <a:ext uri="{FF2B5EF4-FFF2-40B4-BE49-F238E27FC236}">
                    <a16:creationId xmlns:a16="http://schemas.microsoft.com/office/drawing/2014/main" id="{27B66688-9D90-4C5E-A59A-90D12C11228B}"/>
                  </a:ext>
                </a:extLst>
              </p:cNvPr>
              <p:cNvSpPr txBox="1"/>
              <p:nvPr/>
            </p:nvSpPr>
            <p:spPr>
              <a:xfrm>
                <a:off x="1975251" y="4711061"/>
                <a:ext cx="1098618" cy="606913"/>
              </a:xfrm>
              <a:prstGeom prst="rect">
                <a:avLst/>
              </a:prstGeom>
              <a:noFill/>
            </p:spPr>
            <p:txBody>
              <a:bodyPr wrap="square" rtlCol="0">
                <a:spAutoFit/>
              </a:bodyPr>
              <a:lstStyle/>
              <a:p>
                <a:pPr algn="ctr"/>
                <a:r>
                  <a:rPr lang="en-US" sz="1200" dirty="0">
                    <a:solidFill>
                      <a:schemeClr val="bg1"/>
                    </a:solidFill>
                  </a:rPr>
                  <a:t>Discount &amp; Pricing Strategy</a:t>
                </a:r>
                <a:endParaRPr lang="en-US" sz="1200" b="1" dirty="0">
                  <a:solidFill>
                    <a:schemeClr val="bg1"/>
                  </a:solidFill>
                </a:endParaRPr>
              </a:p>
              <a:p>
                <a:pPr algn="ctr"/>
                <a:r>
                  <a:rPr lang="en-US" sz="1200" dirty="0">
                    <a:solidFill>
                      <a:schemeClr val="bg1"/>
                    </a:solidFill>
                    <a:latin typeface="Georgia Pro Light" panose="02040302050405020303" pitchFamily="18" charset="0"/>
                  </a:rPr>
                  <a:t>feasibility</a:t>
                </a:r>
              </a:p>
            </p:txBody>
          </p:sp>
          <p:sp>
            <p:nvSpPr>
              <p:cNvPr id="19" name="TextBox 18">
                <a:extLst>
                  <a:ext uri="{FF2B5EF4-FFF2-40B4-BE49-F238E27FC236}">
                    <a16:creationId xmlns:a16="http://schemas.microsoft.com/office/drawing/2014/main" id="{B28A34DE-5FFF-4D23-AAED-7CD885CE610C}"/>
                  </a:ext>
                </a:extLst>
              </p:cNvPr>
              <p:cNvSpPr txBox="1"/>
              <p:nvPr/>
            </p:nvSpPr>
            <p:spPr>
              <a:xfrm>
                <a:off x="4150159" y="4622848"/>
                <a:ext cx="1003300" cy="783337"/>
              </a:xfrm>
              <a:prstGeom prst="rect">
                <a:avLst/>
              </a:prstGeom>
              <a:noFill/>
            </p:spPr>
            <p:txBody>
              <a:bodyPr wrap="square" rtlCol="0">
                <a:spAutoFit/>
              </a:bodyPr>
              <a:lstStyle/>
              <a:p>
                <a:pPr algn="ctr"/>
                <a:r>
                  <a:rPr lang="en-US" sz="1200" dirty="0">
                    <a:solidFill>
                      <a:schemeClr val="bg1"/>
                    </a:solidFill>
                  </a:rPr>
                  <a:t>Location &amp; Delivery Analysis</a:t>
                </a:r>
              </a:p>
              <a:p>
                <a:pPr algn="ctr"/>
                <a:r>
                  <a:rPr lang="en-US" sz="1200" dirty="0">
                    <a:solidFill>
                      <a:schemeClr val="bg1"/>
                    </a:solidFill>
                    <a:latin typeface="Georgia Pro Light" panose="02040302050405020303" pitchFamily="18" charset="0"/>
                  </a:rPr>
                  <a:t>feasibility</a:t>
                </a:r>
              </a:p>
            </p:txBody>
          </p:sp>
          <p:sp>
            <p:nvSpPr>
              <p:cNvPr id="21" name="TextBox 20">
                <a:extLst>
                  <a:ext uri="{FF2B5EF4-FFF2-40B4-BE49-F238E27FC236}">
                    <a16:creationId xmlns:a16="http://schemas.microsoft.com/office/drawing/2014/main" id="{479BBD19-662F-4B56-8177-92AF1CFEA6B6}"/>
                  </a:ext>
                </a:extLst>
              </p:cNvPr>
              <p:cNvSpPr txBox="1"/>
              <p:nvPr/>
            </p:nvSpPr>
            <p:spPr>
              <a:xfrm>
                <a:off x="4686529" y="2887972"/>
                <a:ext cx="1003300" cy="522225"/>
              </a:xfrm>
              <a:prstGeom prst="rect">
                <a:avLst/>
              </a:prstGeom>
              <a:noFill/>
            </p:spPr>
            <p:txBody>
              <a:bodyPr wrap="square" rtlCol="0">
                <a:spAutoFit/>
              </a:bodyPr>
              <a:lstStyle/>
              <a:p>
                <a:pPr algn="ctr"/>
                <a:r>
                  <a:rPr lang="en-US" sz="900" dirty="0">
                    <a:solidFill>
                      <a:schemeClr val="bg1"/>
                    </a:solidFill>
                  </a:rPr>
                  <a:t>Payment &amp; Digital Platform Strategy</a:t>
                </a:r>
                <a:br>
                  <a:rPr lang="en-US" sz="1200" dirty="0">
                    <a:solidFill>
                      <a:schemeClr val="bg1"/>
                    </a:solidFill>
                    <a:latin typeface="Georgia Pro Light" panose="02040302050405020303" pitchFamily="18" charset="0"/>
                  </a:rPr>
                </a:br>
                <a:r>
                  <a:rPr lang="en-US" sz="1200" dirty="0">
                    <a:solidFill>
                      <a:schemeClr val="bg1"/>
                    </a:solidFill>
                    <a:latin typeface="Georgia Pro Light" panose="02040302050405020303" pitchFamily="18" charset="0"/>
                  </a:rPr>
                  <a:t>feasibility</a:t>
                </a:r>
              </a:p>
            </p:txBody>
          </p:sp>
          <p:sp>
            <p:nvSpPr>
              <p:cNvPr id="22" name="TextBox 21">
                <a:extLst>
                  <a:ext uri="{FF2B5EF4-FFF2-40B4-BE49-F238E27FC236}">
                    <a16:creationId xmlns:a16="http://schemas.microsoft.com/office/drawing/2014/main" id="{9C6679BC-A1F4-46B9-A2CE-AC61AE99143C}"/>
                  </a:ext>
                </a:extLst>
              </p:cNvPr>
              <p:cNvSpPr txBox="1"/>
              <p:nvPr/>
            </p:nvSpPr>
            <p:spPr>
              <a:xfrm>
                <a:off x="6897097" y="3201953"/>
                <a:ext cx="1003300" cy="606913"/>
              </a:xfrm>
              <a:prstGeom prst="rect">
                <a:avLst/>
              </a:prstGeom>
              <a:noFill/>
            </p:spPr>
            <p:txBody>
              <a:bodyPr wrap="square" rtlCol="0">
                <a:spAutoFit/>
              </a:bodyPr>
              <a:lstStyle/>
              <a:p>
                <a:pPr algn="ctr"/>
                <a:r>
                  <a:rPr lang="en-US" sz="1200" dirty="0">
                    <a:solidFill>
                      <a:schemeClr val="bg1"/>
                    </a:solidFill>
                    <a:latin typeface="Georgia Pro Light" panose="02040302050405020303" pitchFamily="18" charset="0"/>
                  </a:rPr>
                  <a:t>Summery of gathered result</a:t>
                </a:r>
              </a:p>
            </p:txBody>
          </p:sp>
          <p:sp>
            <p:nvSpPr>
              <p:cNvPr id="23" name="TextBox 22">
                <a:extLst>
                  <a:ext uri="{FF2B5EF4-FFF2-40B4-BE49-F238E27FC236}">
                    <a16:creationId xmlns:a16="http://schemas.microsoft.com/office/drawing/2014/main" id="{821CC77D-31D4-4E45-9BD1-877B56BE617D}"/>
                  </a:ext>
                </a:extLst>
              </p:cNvPr>
              <p:cNvSpPr txBox="1"/>
              <p:nvPr/>
            </p:nvSpPr>
            <p:spPr>
              <a:xfrm>
                <a:off x="8909368" y="3192603"/>
                <a:ext cx="1341756" cy="435187"/>
              </a:xfrm>
              <a:prstGeom prst="rect">
                <a:avLst/>
              </a:prstGeom>
              <a:noFill/>
            </p:spPr>
            <p:txBody>
              <a:bodyPr wrap="square" rtlCol="0">
                <a:spAutoFit/>
              </a:bodyPr>
              <a:lstStyle/>
              <a:p>
                <a:pPr algn="ctr"/>
                <a:r>
                  <a:rPr lang="en-US" sz="1200" dirty="0">
                    <a:solidFill>
                      <a:schemeClr val="bg1"/>
                    </a:solidFill>
                    <a:latin typeface="Georgia Pro Light" panose="02040302050405020303" pitchFamily="18" charset="0"/>
                  </a:rPr>
                  <a:t>Recommendation for business</a:t>
                </a:r>
              </a:p>
            </p:txBody>
          </p:sp>
          <p:cxnSp>
            <p:nvCxnSpPr>
              <p:cNvPr id="16" name="Straight Arrow Connector 15">
                <a:extLst>
                  <a:ext uri="{FF2B5EF4-FFF2-40B4-BE49-F238E27FC236}">
                    <a16:creationId xmlns:a16="http://schemas.microsoft.com/office/drawing/2014/main" id="{7A8FD6C7-3E0B-4083-90E7-294B4727960A}"/>
                  </a:ext>
                </a:extLst>
              </p:cNvPr>
              <p:cNvCxnSpPr/>
              <p:nvPr/>
            </p:nvCxnSpPr>
            <p:spPr>
              <a:xfrm>
                <a:off x="5842000" y="3349637"/>
                <a:ext cx="723900" cy="0"/>
              </a:xfrm>
              <a:prstGeom prst="straightConnector1">
                <a:avLst/>
              </a:prstGeom>
              <a:ln w="25400">
                <a:solidFill>
                  <a:schemeClr val="bg1">
                    <a:lumMod val="6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8E47B11-E6EB-4773-A117-565DFF72082F}"/>
                  </a:ext>
                </a:extLst>
              </p:cNvPr>
              <p:cNvCxnSpPr/>
              <p:nvPr/>
            </p:nvCxnSpPr>
            <p:spPr>
              <a:xfrm>
                <a:off x="8128000" y="3349637"/>
                <a:ext cx="723900" cy="0"/>
              </a:xfrm>
              <a:prstGeom prst="straightConnector1">
                <a:avLst/>
              </a:prstGeom>
              <a:ln w="25400">
                <a:solidFill>
                  <a:schemeClr val="bg1">
                    <a:lumMod val="6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7" name="Oval 6">
              <a:extLst>
                <a:ext uri="{FF2B5EF4-FFF2-40B4-BE49-F238E27FC236}">
                  <a16:creationId xmlns:a16="http://schemas.microsoft.com/office/drawing/2014/main" id="{AE31A5D2-58CE-4C3B-BD78-71324B0A918E}"/>
                </a:ext>
              </a:extLst>
            </p:cNvPr>
            <p:cNvSpPr/>
            <p:nvPr/>
          </p:nvSpPr>
          <p:spPr>
            <a:xfrm>
              <a:off x="3011680" y="3016160"/>
              <a:ext cx="1552222" cy="15522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grpSp>
      <p:sp>
        <p:nvSpPr>
          <p:cNvPr id="12" name="TextBox 11">
            <a:extLst>
              <a:ext uri="{FF2B5EF4-FFF2-40B4-BE49-F238E27FC236}">
                <a16:creationId xmlns:a16="http://schemas.microsoft.com/office/drawing/2014/main" id="{EB0C117D-8834-40EC-AC2B-D51F498A2816}"/>
              </a:ext>
            </a:extLst>
          </p:cNvPr>
          <p:cNvSpPr txBox="1"/>
          <p:nvPr/>
        </p:nvSpPr>
        <p:spPr>
          <a:xfrm>
            <a:off x="3203484" y="3566507"/>
            <a:ext cx="1188002" cy="400110"/>
          </a:xfrm>
          <a:prstGeom prst="rect">
            <a:avLst/>
          </a:prstGeom>
          <a:noFill/>
        </p:spPr>
        <p:txBody>
          <a:bodyPr wrap="square" rtlCol="0">
            <a:spAutoFit/>
          </a:bodyPr>
          <a:lstStyle/>
          <a:p>
            <a:pPr algn="ctr"/>
            <a:r>
              <a:rPr lang="en-US" sz="2000" dirty="0">
                <a:solidFill>
                  <a:schemeClr val="bg1"/>
                </a:solidFill>
                <a:latin typeface="Georgia" panose="02040502050405020303" pitchFamily="18" charset="0"/>
              </a:rPr>
              <a:t>Analysis</a:t>
            </a:r>
          </a:p>
        </p:txBody>
      </p:sp>
    </p:spTree>
    <p:extLst>
      <p:ext uri="{BB962C8B-B14F-4D97-AF65-F5344CB8AC3E}">
        <p14:creationId xmlns:p14="http://schemas.microsoft.com/office/powerpoint/2010/main" val="68685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BB731-D070-B69B-51CB-68FC205A6187}"/>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C201B6E-6E03-64EC-792E-2DEF279EA26B}"/>
              </a:ext>
            </a:extLst>
          </p:cNvPr>
          <p:cNvSpPr txBox="1"/>
          <p:nvPr/>
        </p:nvSpPr>
        <p:spPr>
          <a:xfrm>
            <a:off x="152400" y="-70520"/>
            <a:ext cx="12192000" cy="46166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en-US" sz="2400" dirty="0">
                <a:effectLst>
                  <a:outerShdw blurRad="38100" dist="38100" dir="2700000" algn="tl">
                    <a:srgbClr val="000000">
                      <a:alpha val="43137"/>
                    </a:srgbClr>
                  </a:outerShdw>
                </a:effectLst>
                <a:latin typeface="Roboto Slab Light" pitchFamily="2" charset="0"/>
                <a:ea typeface="Roboto Slab Light" pitchFamily="2" charset="0"/>
                <a:cs typeface="BrowalliaUPC" panose="020B0502040204020203" pitchFamily="34" charset="-34"/>
              </a:rPr>
              <a:t>Recommendation Report</a:t>
            </a:r>
          </a:p>
        </p:txBody>
      </p:sp>
      <p:sp>
        <p:nvSpPr>
          <p:cNvPr id="12" name="TextBox 11">
            <a:extLst>
              <a:ext uri="{FF2B5EF4-FFF2-40B4-BE49-F238E27FC236}">
                <a16:creationId xmlns:a16="http://schemas.microsoft.com/office/drawing/2014/main" id="{816D2C73-FF3A-6DB6-6A2B-B6E336DA93B9}"/>
              </a:ext>
            </a:extLst>
          </p:cNvPr>
          <p:cNvSpPr txBox="1"/>
          <p:nvPr/>
        </p:nvSpPr>
        <p:spPr>
          <a:xfrm>
            <a:off x="3203484" y="3566507"/>
            <a:ext cx="1188002" cy="400110"/>
          </a:xfrm>
          <a:prstGeom prst="rect">
            <a:avLst/>
          </a:prstGeom>
          <a:noFill/>
        </p:spPr>
        <p:txBody>
          <a:bodyPr wrap="square" rtlCol="0">
            <a:spAutoFit/>
          </a:bodyPr>
          <a:lstStyle/>
          <a:p>
            <a:pPr algn="ctr"/>
            <a:r>
              <a:rPr lang="en-US" sz="2000" dirty="0">
                <a:solidFill>
                  <a:schemeClr val="bg1"/>
                </a:solidFill>
                <a:latin typeface="Georgia" panose="02040502050405020303" pitchFamily="18" charset="0"/>
              </a:rPr>
              <a:t>Analysis</a:t>
            </a:r>
          </a:p>
        </p:txBody>
      </p:sp>
      <p:sp>
        <p:nvSpPr>
          <p:cNvPr id="39" name="TextBox 38">
            <a:extLst>
              <a:ext uri="{FF2B5EF4-FFF2-40B4-BE49-F238E27FC236}">
                <a16:creationId xmlns:a16="http://schemas.microsoft.com/office/drawing/2014/main" id="{D955134C-C956-6C2A-51F7-F92D4F5C70EB}"/>
              </a:ext>
            </a:extLst>
          </p:cNvPr>
          <p:cNvSpPr txBox="1">
            <a:spLocks noGrp="1" noRot="1" noMove="1" noResize="1" noEditPoints="1" noAdjustHandles="1" noChangeArrowheads="1" noChangeShapeType="1"/>
          </p:cNvSpPr>
          <p:nvPr/>
        </p:nvSpPr>
        <p:spPr>
          <a:xfrm>
            <a:off x="0" y="1174889"/>
            <a:ext cx="12192000" cy="6186309"/>
          </a:xfrm>
          <a:prstGeom prst="rect">
            <a:avLst/>
          </a:prstGeom>
          <a:noFill/>
        </p:spPr>
        <p:txBody>
          <a:bodyPr wrap="square" rtlCol="0">
            <a:spAutoFit/>
          </a:bodyPr>
          <a:lstStyle/>
          <a:p>
            <a:pPr marL="342900" indent="-342900">
              <a:buFont typeface="+mj-lt"/>
              <a:buAutoNum type="arabicPeriod"/>
            </a:pPr>
            <a:r>
              <a:rPr lang="en-US" dirty="0"/>
              <a:t>Post-Purchase Retention Opportunity Customer engagement drops after the first purchase opportunity, meaning  is not fully converting buyers into repeat customers despite consistent service performance across segments. </a:t>
            </a:r>
            <a:r>
              <a:rPr lang="en-US" b="1" dirty="0"/>
              <a:t>Expected Impact:</a:t>
            </a:r>
            <a:r>
              <a:rPr lang="en-US" dirty="0"/>
              <a:t> Improve repeat purchase rate, increase customer lifetime value, and reduce churn through targeted lifecycle engagement across all customer segments.</a:t>
            </a:r>
            <a:br>
              <a:rPr lang="en-US" dirty="0"/>
            </a:br>
            <a:endParaRPr lang="en-US" b="1" dirty="0"/>
          </a:p>
          <a:p>
            <a:pPr marL="285750" indent="-285750">
              <a:buFont typeface="Arial" panose="020B0604020202020204" pitchFamily="34" charset="0"/>
              <a:buChar char="•"/>
            </a:pPr>
            <a:r>
              <a:rPr lang="en-US" dirty="0"/>
              <a:t>Send </a:t>
            </a:r>
            <a:r>
              <a:rPr lang="en-US" b="1" dirty="0"/>
              <a:t>personalized product recommendations</a:t>
            </a:r>
            <a:r>
              <a:rPr lang="en-US" dirty="0"/>
              <a:t> based on previous purchases and browsing behavior.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introduce </a:t>
            </a:r>
            <a:r>
              <a:rPr lang="en-US" b="1" dirty="0"/>
              <a:t>time-limited incentives for second purchase (e.g., small reward or free shipping on next order).</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Use </a:t>
            </a:r>
            <a:r>
              <a:rPr lang="en-US" b="1" dirty="0"/>
              <a:t>behavior-based triggers</a:t>
            </a:r>
            <a:r>
              <a:rPr lang="en-US" dirty="0"/>
              <a:t> (e.g., no repeat purchase within 30 days) to activate win-back messaging.</a:t>
            </a:r>
            <a:br>
              <a:rPr lang="en-US" dirty="0"/>
            </a:br>
            <a:endParaRPr lang="en-US" b="1" dirty="0"/>
          </a:p>
          <a:p>
            <a:r>
              <a:rPr lang="en-US" b="1" dirty="0"/>
              <a:t>2.  Create a VIP segment from the 2000 dual-loyal customers</a:t>
            </a:r>
            <a:r>
              <a:rPr lang="en-US" dirty="0"/>
              <a:t>  who are both satisfied </a:t>
            </a:r>
            <a:r>
              <a:rPr lang="en-US" b="1" dirty="0"/>
              <a:t>(Score 4-5) </a:t>
            </a:r>
            <a:r>
              <a:rPr lang="en-US" dirty="0"/>
              <a:t>AND </a:t>
            </a:r>
            <a:r>
              <a:rPr lang="en-US" b="1" dirty="0"/>
              <a:t>returning</a:t>
            </a:r>
            <a:r>
              <a:rPr lang="en-US" dirty="0"/>
              <a:t> represent almost 20% </a:t>
            </a:r>
            <a:r>
              <a:rPr lang="en-US" b="1" dirty="0"/>
              <a:t>of the total Base.</a:t>
            </a:r>
            <a:r>
              <a:rPr lang="en-US" dirty="0"/>
              <a:t> These are the business's most valuable customers.</a:t>
            </a:r>
            <a:r>
              <a:rPr lang="en-US" b="1" dirty="0"/>
              <a:t> Expected Outcome:</a:t>
            </a:r>
            <a:r>
              <a:rPr lang="en-US" dirty="0"/>
              <a:t> +5–10% improvement in repeat purchases and measurable uplift in customer lifetime value within 3 months.</a:t>
            </a:r>
            <a:br>
              <a:rPr lang="en-US" dirty="0"/>
            </a:br>
            <a:endParaRPr lang="en-US" dirty="0"/>
          </a:p>
          <a:p>
            <a:pPr marL="285750" indent="-285750">
              <a:buFont typeface="Arial" panose="020B0604020202020204" pitchFamily="34" charset="0"/>
              <a:buChar char="•"/>
            </a:pPr>
            <a:r>
              <a:rPr lang="en-US" dirty="0"/>
              <a:t>Create a </a:t>
            </a:r>
            <a:r>
              <a:rPr lang="en-US" b="1" dirty="0"/>
              <a:t>VIP loyalty program </a:t>
            </a:r>
            <a:r>
              <a:rPr lang="en-US" dirty="0"/>
              <a:t>offering priority support, exclusive rewards, early product access, and personalized recommendations to maximize retention, lifetime value, and brand advocacy.</a:t>
            </a:r>
            <a:br>
              <a:rPr lang="en-US" dirty="0"/>
            </a:br>
            <a:endParaRPr lang="en-US" dirty="0"/>
          </a:p>
          <a:p>
            <a:pPr marL="285750" indent="-285750">
              <a:buFont typeface="Arial" panose="020B0604020202020204" pitchFamily="34" charset="0"/>
              <a:buChar char="•"/>
            </a:pPr>
            <a:r>
              <a:rPr lang="en-US" dirty="0"/>
              <a:t>Implement a proactive recovery program for low-satisfaction returning customers </a:t>
            </a:r>
            <a:r>
              <a:rPr lang="en-US" b="1" dirty="0"/>
              <a:t>(Scores 1,2,3)</a:t>
            </a:r>
            <a:r>
              <a:rPr lang="en-US" dirty="0"/>
              <a:t> through targeted surveys, personalized follow-ups, and service recovery incentives to identify pain points and prevent future </a:t>
            </a:r>
            <a:r>
              <a:rPr lang="en-US" b="1" dirty="0"/>
              <a:t>churn</a:t>
            </a:r>
            <a:r>
              <a:rPr lang="en-US" dirty="0"/>
              <a:t>.</a:t>
            </a:r>
            <a:br>
              <a:rPr lang="en-US" b="1" dirty="0"/>
            </a:br>
            <a:endParaRPr lang="en-US" b="1" dirty="0"/>
          </a:p>
          <a:p>
            <a:pPr marL="285750" indent="-285750">
              <a:buFont typeface="Arial" panose="020B0604020202020204" pitchFamily="34" charset="0"/>
              <a:buChar char="•"/>
            </a:pPr>
            <a:endParaRPr lang="en-US" b="1" dirty="0"/>
          </a:p>
        </p:txBody>
      </p:sp>
      <p:graphicFrame>
        <p:nvGraphicFramePr>
          <p:cNvPr id="41" name="Table 40">
            <a:extLst>
              <a:ext uri="{FF2B5EF4-FFF2-40B4-BE49-F238E27FC236}">
                <a16:creationId xmlns:a16="http://schemas.microsoft.com/office/drawing/2014/main" id="{47DD41E1-FBFF-6684-572B-7D859477F64A}"/>
              </a:ext>
            </a:extLst>
          </p:cNvPr>
          <p:cNvGraphicFramePr>
            <a:graphicFrameLocks noGrp="1"/>
          </p:cNvGraphicFramePr>
          <p:nvPr>
            <p:extLst>
              <p:ext uri="{D42A27DB-BD31-4B8C-83A1-F6EECF244321}">
                <p14:modId xmlns:p14="http://schemas.microsoft.com/office/powerpoint/2010/main" val="1687515057"/>
              </p:ext>
            </p:extLst>
          </p:nvPr>
        </p:nvGraphicFramePr>
        <p:xfrm>
          <a:off x="76200" y="448434"/>
          <a:ext cx="12039600" cy="533400"/>
        </p:xfrm>
        <a:graphic>
          <a:graphicData uri="http://schemas.openxmlformats.org/drawingml/2006/table">
            <a:tbl>
              <a:tblPr firstRow="1" bandRow="1">
                <a:tableStyleId>{2D5ABB26-0587-4C30-8999-92F81FD0307C}</a:tableStyleId>
              </a:tblPr>
              <a:tblGrid>
                <a:gridCol w="3979281">
                  <a:extLst>
                    <a:ext uri="{9D8B030D-6E8A-4147-A177-3AD203B41FA5}">
                      <a16:colId xmlns:a16="http://schemas.microsoft.com/office/drawing/2014/main" val="2965233016"/>
                    </a:ext>
                  </a:extLst>
                </a:gridCol>
                <a:gridCol w="3963247">
                  <a:extLst>
                    <a:ext uri="{9D8B030D-6E8A-4147-A177-3AD203B41FA5}">
                      <a16:colId xmlns:a16="http://schemas.microsoft.com/office/drawing/2014/main" val="198953551"/>
                    </a:ext>
                  </a:extLst>
                </a:gridCol>
                <a:gridCol w="4097072">
                  <a:extLst>
                    <a:ext uri="{9D8B030D-6E8A-4147-A177-3AD203B41FA5}">
                      <a16:colId xmlns:a16="http://schemas.microsoft.com/office/drawing/2014/main" val="4051033048"/>
                    </a:ext>
                  </a:extLst>
                </a:gridCol>
              </a:tblGrid>
              <a:tr h="182880">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rPr>
                        <a:t>Priority Level</a:t>
                      </a:r>
                      <a:endParaRPr lang="en-US" sz="11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kern="1200" dirty="0">
                          <a:solidFill>
                            <a:schemeClr val="tx1"/>
                          </a:solidFill>
                          <a:effectLst/>
                        </a:rPr>
                        <a:t>Time Frame</a:t>
                      </a:r>
                      <a:endParaRPr lang="en-US"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solidFill>
                            <a:schemeClr val="tx1"/>
                          </a:solidFill>
                        </a:rPr>
                        <a:t>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331550"/>
                  </a:ext>
                </a:extLst>
              </a:tr>
              <a:tr h="221464">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dirty="0">
                          <a:effectLst/>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effectLst/>
                        </a:rPr>
                        <a:t>Immediate (0–3 months)</a:t>
                      </a:r>
                      <a:endParaRPr lang="en-US"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solidFill>
                            <a:schemeClr val="tx1"/>
                          </a:solidFill>
                        </a:rPr>
                        <a:t>Retention &amp; Loyalty Strategy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8524076"/>
                  </a:ext>
                </a:extLst>
              </a:tr>
            </a:tbl>
          </a:graphicData>
        </a:graphic>
      </p:graphicFrame>
    </p:spTree>
    <p:extLst>
      <p:ext uri="{BB962C8B-B14F-4D97-AF65-F5344CB8AC3E}">
        <p14:creationId xmlns:p14="http://schemas.microsoft.com/office/powerpoint/2010/main" val="3557499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C129-F8FB-0401-12BD-488D75E684B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B8FB148-1EB0-3D57-B9F1-73DB816E6528}"/>
              </a:ext>
            </a:extLst>
          </p:cNvPr>
          <p:cNvSpPr txBox="1"/>
          <p:nvPr/>
        </p:nvSpPr>
        <p:spPr>
          <a:xfrm>
            <a:off x="152400" y="-70520"/>
            <a:ext cx="12192000" cy="46166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en-US" sz="2400" dirty="0">
                <a:effectLst>
                  <a:outerShdw blurRad="38100" dist="38100" dir="2700000" algn="tl">
                    <a:srgbClr val="000000">
                      <a:alpha val="43137"/>
                    </a:srgbClr>
                  </a:outerShdw>
                </a:effectLst>
                <a:latin typeface="Roboto Slab Light" pitchFamily="2" charset="0"/>
                <a:ea typeface="Roboto Slab Light" pitchFamily="2" charset="0"/>
                <a:cs typeface="BrowalliaUPC" panose="020B0502040204020203" pitchFamily="34" charset="-34"/>
              </a:rPr>
              <a:t>Recommendation Report</a:t>
            </a:r>
          </a:p>
        </p:txBody>
      </p:sp>
      <p:sp>
        <p:nvSpPr>
          <p:cNvPr id="12" name="TextBox 11">
            <a:extLst>
              <a:ext uri="{FF2B5EF4-FFF2-40B4-BE49-F238E27FC236}">
                <a16:creationId xmlns:a16="http://schemas.microsoft.com/office/drawing/2014/main" id="{F96676AA-6658-C05A-C612-B58B808ECCAE}"/>
              </a:ext>
            </a:extLst>
          </p:cNvPr>
          <p:cNvSpPr txBox="1"/>
          <p:nvPr/>
        </p:nvSpPr>
        <p:spPr>
          <a:xfrm>
            <a:off x="3203484" y="3566507"/>
            <a:ext cx="1188002" cy="400110"/>
          </a:xfrm>
          <a:prstGeom prst="rect">
            <a:avLst/>
          </a:prstGeom>
          <a:noFill/>
        </p:spPr>
        <p:txBody>
          <a:bodyPr wrap="square" rtlCol="0">
            <a:spAutoFit/>
          </a:bodyPr>
          <a:lstStyle/>
          <a:p>
            <a:pPr algn="ctr"/>
            <a:r>
              <a:rPr lang="en-US" sz="2000" dirty="0">
                <a:solidFill>
                  <a:schemeClr val="bg1"/>
                </a:solidFill>
                <a:latin typeface="Georgia" panose="02040502050405020303" pitchFamily="18" charset="0"/>
              </a:rPr>
              <a:t>Analysis</a:t>
            </a:r>
          </a:p>
        </p:txBody>
      </p:sp>
      <p:sp>
        <p:nvSpPr>
          <p:cNvPr id="39" name="TextBox 38">
            <a:extLst>
              <a:ext uri="{FF2B5EF4-FFF2-40B4-BE49-F238E27FC236}">
                <a16:creationId xmlns:a16="http://schemas.microsoft.com/office/drawing/2014/main" id="{8E18F24F-878D-0246-2CA9-142566F40737}"/>
              </a:ext>
            </a:extLst>
          </p:cNvPr>
          <p:cNvSpPr txBox="1">
            <a:spLocks noGrp="1" noRot="1" noMove="1" noResize="1" noEditPoints="1" noAdjustHandles="1" noChangeArrowheads="1" noChangeShapeType="1"/>
          </p:cNvSpPr>
          <p:nvPr/>
        </p:nvSpPr>
        <p:spPr>
          <a:xfrm>
            <a:off x="76200" y="1067035"/>
            <a:ext cx="12115800" cy="7294305"/>
          </a:xfrm>
          <a:prstGeom prst="rect">
            <a:avLst/>
          </a:prstGeom>
          <a:noFill/>
        </p:spPr>
        <p:txBody>
          <a:bodyPr wrap="square" rtlCol="0">
            <a:spAutoFit/>
          </a:bodyPr>
          <a:lstStyle/>
          <a:p>
            <a:pPr marL="342900" indent="-342900">
              <a:buFont typeface="+mj-lt"/>
              <a:buAutoNum type="arabicPeriod"/>
            </a:pPr>
            <a:r>
              <a:rPr lang="en-US" dirty="0"/>
              <a:t>For 5,017 customers, the discount program generated only </a:t>
            </a:r>
            <a:r>
              <a:rPr lang="en-US" b="1" dirty="0"/>
              <a:t>$2.75 in additional spending while costing an estimated $380,000 in annual margin, making it a revenue-draining strategy.</a:t>
            </a:r>
            <a:br>
              <a:rPr lang="en-US" b="1" dirty="0"/>
            </a:br>
            <a:endParaRPr lang="en-US" b="1" dirty="0"/>
          </a:p>
          <a:p>
            <a:pPr marL="285750" indent="-285750">
              <a:buFont typeface="Arial" panose="020B0604020202020204" pitchFamily="34" charset="0"/>
              <a:buChar char="•"/>
            </a:pPr>
            <a:r>
              <a:rPr lang="en-US" dirty="0"/>
              <a:t>Replace </a:t>
            </a:r>
            <a:r>
              <a:rPr lang="en-US" b="1" dirty="0"/>
              <a:t>blanket discounts with spend-threshold </a:t>
            </a:r>
            <a:r>
              <a:rPr lang="en-US" dirty="0"/>
              <a:t>offers to protect margin and increase average order value.</a:t>
            </a:r>
          </a:p>
          <a:p>
            <a:pPr marL="285750" indent="-285750">
              <a:buFont typeface="Arial" panose="020B0604020202020204" pitchFamily="34" charset="0"/>
              <a:buChar char="•"/>
            </a:pPr>
            <a:r>
              <a:rPr lang="en-US" dirty="0"/>
              <a:t>Introduce tiered spend-based promotions (e.g., 10% off above $750) to drive higher order values without eroding profitability.</a:t>
            </a:r>
          </a:p>
          <a:p>
            <a:pPr marL="285750" indent="-285750">
              <a:buFont typeface="Arial" panose="020B0604020202020204" pitchFamily="34" charset="0"/>
              <a:buChar char="•"/>
            </a:pPr>
            <a:r>
              <a:rPr lang="en-US" dirty="0"/>
              <a:t>Introduce minimum order value policy with purchase amounts as low as $5.19 many transactions are unprofitable after delivery costs — set a minimum order of $50 with a free delivery threshold at $255 to push low-value customers above the  leads.</a:t>
            </a:r>
          </a:p>
          <a:p>
            <a:pPr marL="285750" indent="-285750">
              <a:buFont typeface="Arial" panose="020B0604020202020204" pitchFamily="34" charset="0"/>
              <a:buChar char="•"/>
            </a:pPr>
            <a:r>
              <a:rPr lang="en-US" dirty="0"/>
              <a:t>Deploy category-specific pricing strategies. Books customers spend $523.10 with low discount usage (48.9%) confirming price inelasticity. Replace discounts with </a:t>
            </a:r>
            <a:r>
              <a:rPr lang="en-US" b="1" dirty="0"/>
              <a:t>loyalty-based rewards </a:t>
            </a:r>
            <a:r>
              <a:rPr lang="en-US" dirty="0"/>
              <a:t>which increases repeat purchase rate and strengthens long-term retention.</a:t>
            </a:r>
          </a:p>
          <a:p>
            <a:endParaRPr lang="en-US" dirty="0"/>
          </a:p>
          <a:p>
            <a:pPr marL="285750" indent="-285750">
              <a:buFont typeface="Arial" panose="020B0604020202020204" pitchFamily="34" charset="0"/>
              <a:buChar char="•"/>
            </a:pPr>
            <a:r>
              <a:rPr lang="en-US" b="1" dirty="0"/>
              <a:t>Remove discounts entirely </a:t>
            </a:r>
            <a:r>
              <a:rPr lang="en-US" dirty="0"/>
              <a:t>from </a:t>
            </a:r>
            <a:r>
              <a:rPr lang="en-US" b="1" dirty="0"/>
              <a:t>Books</a:t>
            </a:r>
            <a:r>
              <a:rPr lang="en-US" dirty="0"/>
              <a:t> and redirect that budget to </a:t>
            </a:r>
            <a:r>
              <a:rPr lang="en-US" b="1" dirty="0"/>
              <a:t>Sports</a:t>
            </a:r>
            <a:r>
              <a:rPr lang="en-US" dirty="0"/>
              <a:t> . the lowest </a:t>
            </a:r>
            <a:r>
              <a:rPr lang="en-US" b="1" dirty="0"/>
              <a:t>revenue category at $566,959  where targeted promotions could drive meaningful volume uplift.</a:t>
            </a:r>
          </a:p>
          <a:p>
            <a:pPr marL="285750" indent="-285750">
              <a:buFont typeface="Arial" panose="020B0604020202020204" pitchFamily="34" charset="0"/>
              <a:buChar char="•"/>
            </a:pPr>
            <a:r>
              <a:rPr lang="en-US" dirty="0"/>
              <a:t>Create Sports + Toys bundle for first-order customers  improves conversion by leveraging strong-performing Toys demand.</a:t>
            </a:r>
          </a:p>
          <a:p>
            <a:pPr marL="285750" indent="-285750">
              <a:buFont typeface="Arial" panose="020B0604020202020204" pitchFamily="34" charset="0"/>
              <a:buChar char="•"/>
            </a:pPr>
            <a:r>
              <a:rPr lang="en-US" dirty="0"/>
              <a:t>Investigate Electronics pricing  lowest average spend at $489.48 despite being a traditionally high-value category — review product mix, price points and competitive positioning in this category.</a:t>
            </a:r>
          </a:p>
          <a:p>
            <a:pPr marL="285750" indent="-285750">
              <a:buFont typeface="Arial" panose="020B0604020202020204" pitchFamily="34" charset="0"/>
              <a:buChar char="•"/>
            </a:pPr>
            <a:r>
              <a:rPr lang="en-US" dirty="0"/>
              <a:t>Introduce </a:t>
            </a:r>
            <a:r>
              <a:rPr lang="en-US" b="1" dirty="0"/>
              <a:t>entry-level bundles anchored at $255 threshold  gradually lift basket value while keeping perceived affordability.</a:t>
            </a:r>
          </a:p>
          <a:p>
            <a:pPr marL="285750" indent="-285750">
              <a:buFont typeface="Arial" panose="020B0604020202020204" pitchFamily="34" charset="0"/>
              <a:buChar char="•"/>
            </a:pPr>
            <a:r>
              <a:rPr lang="en-US" dirty="0"/>
              <a:t>Provide </a:t>
            </a:r>
            <a:r>
              <a:rPr lang="en-US" b="1" dirty="0"/>
              <a:t>cross-category premium upsells (Electronics + Accessories, Sports + Gear, etc.)</a:t>
            </a:r>
            <a:r>
              <a:rPr lang="en-US" dirty="0"/>
              <a:t> → maximizes revenue per customer.</a:t>
            </a:r>
          </a:p>
          <a:p>
            <a:endParaRPr lang="en-US" dirty="0"/>
          </a:p>
          <a:p>
            <a:br>
              <a:rPr lang="en-US" dirty="0"/>
            </a:br>
            <a:br>
              <a:rPr lang="en-US" b="1" dirty="0"/>
            </a:br>
            <a:endParaRPr lang="en-US" b="1" dirty="0"/>
          </a:p>
          <a:p>
            <a:pPr marL="285750" indent="-285750">
              <a:buFont typeface="Arial" panose="020B0604020202020204" pitchFamily="34" charset="0"/>
              <a:buChar char="•"/>
            </a:pPr>
            <a:endParaRPr lang="en-US" b="1" dirty="0"/>
          </a:p>
        </p:txBody>
      </p:sp>
      <p:graphicFrame>
        <p:nvGraphicFramePr>
          <p:cNvPr id="41" name="Table 40">
            <a:extLst>
              <a:ext uri="{FF2B5EF4-FFF2-40B4-BE49-F238E27FC236}">
                <a16:creationId xmlns:a16="http://schemas.microsoft.com/office/drawing/2014/main" id="{089854B3-DB36-755B-2849-2E1F67759DB4}"/>
              </a:ext>
            </a:extLst>
          </p:cNvPr>
          <p:cNvGraphicFramePr>
            <a:graphicFrameLocks/>
          </p:cNvGraphicFramePr>
          <p:nvPr>
            <p:extLst>
              <p:ext uri="{D42A27DB-BD31-4B8C-83A1-F6EECF244321}">
                <p14:modId xmlns:p14="http://schemas.microsoft.com/office/powerpoint/2010/main" val="4103976199"/>
              </p:ext>
            </p:extLst>
          </p:nvPr>
        </p:nvGraphicFramePr>
        <p:xfrm>
          <a:off x="76200" y="391145"/>
          <a:ext cx="12039600" cy="563660"/>
        </p:xfrm>
        <a:graphic>
          <a:graphicData uri="http://schemas.openxmlformats.org/drawingml/2006/table">
            <a:tbl>
              <a:tblPr firstRow="1" bandRow="1">
                <a:tableStyleId>{2D5ABB26-0587-4C30-8999-92F81FD0307C}</a:tableStyleId>
              </a:tblPr>
              <a:tblGrid>
                <a:gridCol w="3979281">
                  <a:extLst>
                    <a:ext uri="{9D8B030D-6E8A-4147-A177-3AD203B41FA5}">
                      <a16:colId xmlns:a16="http://schemas.microsoft.com/office/drawing/2014/main" val="2965233016"/>
                    </a:ext>
                  </a:extLst>
                </a:gridCol>
                <a:gridCol w="3963247">
                  <a:extLst>
                    <a:ext uri="{9D8B030D-6E8A-4147-A177-3AD203B41FA5}">
                      <a16:colId xmlns:a16="http://schemas.microsoft.com/office/drawing/2014/main" val="198953551"/>
                    </a:ext>
                  </a:extLst>
                </a:gridCol>
                <a:gridCol w="4097072">
                  <a:extLst>
                    <a:ext uri="{9D8B030D-6E8A-4147-A177-3AD203B41FA5}">
                      <a16:colId xmlns:a16="http://schemas.microsoft.com/office/drawing/2014/main" val="4051033048"/>
                    </a:ext>
                  </a:extLst>
                </a:gridCol>
              </a:tblGrid>
              <a:tr h="289340">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rPr>
                        <a:t>Priority Level</a:t>
                      </a:r>
                      <a:endParaRPr lang="en-US" sz="11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kern="1200" dirty="0">
                          <a:solidFill>
                            <a:schemeClr val="tx1"/>
                          </a:solidFill>
                          <a:effectLst/>
                        </a:rPr>
                        <a:t>Time Frame</a:t>
                      </a:r>
                      <a:endParaRPr lang="en-US"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solidFill>
                            <a:schemeClr val="tx1"/>
                          </a:solidFill>
                        </a:rPr>
                        <a:t>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331550"/>
                  </a:ext>
                </a:extLst>
              </a:tr>
              <a:tr h="221464">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dirty="0">
                          <a:effectLst/>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rPr>
                        <a:t>Immediate (0–3 months)</a:t>
                      </a:r>
                      <a:endParaRPr lang="en-US"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solidFill>
                            <a:schemeClr val="tx1"/>
                          </a:solidFill>
                        </a:rPr>
                        <a:t>Discount &amp; Pricing Strategy</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8524076"/>
                  </a:ext>
                </a:extLst>
              </a:tr>
            </a:tbl>
          </a:graphicData>
        </a:graphic>
      </p:graphicFrame>
    </p:spTree>
    <p:extLst>
      <p:ext uri="{BB962C8B-B14F-4D97-AF65-F5344CB8AC3E}">
        <p14:creationId xmlns:p14="http://schemas.microsoft.com/office/powerpoint/2010/main" val="2032988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B051A-CA1C-D16B-0953-3CD77440353C}"/>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032E1E66-3719-6861-7310-0513440E8B6F}"/>
              </a:ext>
            </a:extLst>
          </p:cNvPr>
          <p:cNvSpPr txBox="1"/>
          <p:nvPr/>
        </p:nvSpPr>
        <p:spPr>
          <a:xfrm>
            <a:off x="152400" y="-70520"/>
            <a:ext cx="12192000" cy="46166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en-US" sz="2400" dirty="0">
                <a:effectLst>
                  <a:outerShdw blurRad="38100" dist="38100" dir="2700000" algn="tl">
                    <a:srgbClr val="000000">
                      <a:alpha val="43137"/>
                    </a:srgbClr>
                  </a:outerShdw>
                </a:effectLst>
                <a:latin typeface="Roboto Slab Light" pitchFamily="2" charset="0"/>
                <a:ea typeface="Roboto Slab Light" pitchFamily="2" charset="0"/>
                <a:cs typeface="BrowalliaUPC" panose="020B0502040204020203" pitchFamily="34" charset="-34"/>
              </a:rPr>
              <a:t>Recommendation Report</a:t>
            </a:r>
          </a:p>
        </p:txBody>
      </p:sp>
      <p:sp>
        <p:nvSpPr>
          <p:cNvPr id="12" name="TextBox 11">
            <a:extLst>
              <a:ext uri="{FF2B5EF4-FFF2-40B4-BE49-F238E27FC236}">
                <a16:creationId xmlns:a16="http://schemas.microsoft.com/office/drawing/2014/main" id="{57A24AC3-1279-2B98-075B-42C92303D033}"/>
              </a:ext>
            </a:extLst>
          </p:cNvPr>
          <p:cNvSpPr txBox="1"/>
          <p:nvPr/>
        </p:nvSpPr>
        <p:spPr>
          <a:xfrm>
            <a:off x="3203484" y="3566507"/>
            <a:ext cx="1188002" cy="400110"/>
          </a:xfrm>
          <a:prstGeom prst="rect">
            <a:avLst/>
          </a:prstGeom>
          <a:noFill/>
        </p:spPr>
        <p:txBody>
          <a:bodyPr wrap="square" rtlCol="0">
            <a:spAutoFit/>
          </a:bodyPr>
          <a:lstStyle/>
          <a:p>
            <a:pPr algn="ctr"/>
            <a:r>
              <a:rPr lang="en-US" sz="2000" dirty="0">
                <a:solidFill>
                  <a:schemeClr val="bg1"/>
                </a:solidFill>
                <a:latin typeface="Georgia" panose="02040502050405020303" pitchFamily="18" charset="0"/>
              </a:rPr>
              <a:t>Analysis</a:t>
            </a:r>
          </a:p>
        </p:txBody>
      </p:sp>
      <p:sp>
        <p:nvSpPr>
          <p:cNvPr id="39" name="TextBox 38">
            <a:extLst>
              <a:ext uri="{FF2B5EF4-FFF2-40B4-BE49-F238E27FC236}">
                <a16:creationId xmlns:a16="http://schemas.microsoft.com/office/drawing/2014/main" id="{93E16E10-6B4A-009A-98BA-5711DC24D4B5}"/>
              </a:ext>
            </a:extLst>
          </p:cNvPr>
          <p:cNvSpPr txBox="1">
            <a:spLocks noGrp="1" noRot="1" noMove="1" noResize="1" noEditPoints="1" noAdjustHandles="1" noChangeArrowheads="1" noChangeShapeType="1"/>
          </p:cNvSpPr>
          <p:nvPr/>
        </p:nvSpPr>
        <p:spPr>
          <a:xfrm>
            <a:off x="38100" y="924545"/>
            <a:ext cx="12115800" cy="6740307"/>
          </a:xfrm>
          <a:prstGeom prst="rect">
            <a:avLst/>
          </a:prstGeom>
          <a:noFill/>
          <a:ln>
            <a:solidFill>
              <a:schemeClr val="bg1"/>
            </a:solidFill>
          </a:ln>
        </p:spPr>
        <p:txBody>
          <a:bodyPr wrap="square" rtlCol="0">
            <a:spAutoFit/>
          </a:bodyPr>
          <a:lstStyle/>
          <a:p>
            <a:r>
              <a:rPr lang="en-US" dirty="0"/>
              <a:t>Geography shows a revenue gap: Khulna and Barisal outperform other regions by ~$19 per customer. </a:t>
            </a:r>
            <a:r>
              <a:rPr lang="en-US" b="1" dirty="0"/>
              <a:t>Dhaka is underperforming despite its size, making it the biggest untapped growth opportunity.</a:t>
            </a:r>
            <a:br>
              <a:rPr lang="en-US" b="1" dirty="0"/>
            </a:br>
            <a:endParaRPr lang="en-US" b="1" dirty="0"/>
          </a:p>
          <a:p>
            <a:pPr marL="285750" indent="-285750">
              <a:buFont typeface="Arial" panose="020B0604020202020204" pitchFamily="34" charset="0"/>
              <a:buChar char="•"/>
            </a:pPr>
            <a:r>
              <a:rPr lang="en-US" dirty="0"/>
              <a:t>Launch premium-focused campaigns in </a:t>
            </a:r>
            <a:r>
              <a:rPr lang="en-US" b="1" dirty="0"/>
              <a:t>Khulna and Barisal first</a:t>
            </a:r>
            <a:r>
              <a:rPr lang="en-US" dirty="0"/>
              <a:t>, as both cities consistently exceed the national average spend ($513.94 and $513.67); pilot all new premium products, subscription upgrades, and exclusive membership offers in these markets before national rollout to maximize early adoption and revenue impact, with Books and Clothing identified as the top-performing product categories.</a:t>
            </a:r>
          </a:p>
          <a:p>
            <a:pPr marL="285750" indent="-285750">
              <a:buFont typeface="Arial" panose="020B0604020202020204" pitchFamily="34" charset="0"/>
              <a:buChar char="•"/>
            </a:pPr>
            <a:r>
              <a:rPr lang="en-US" dirty="0"/>
              <a:t>Deploy targeted uplift </a:t>
            </a:r>
            <a:r>
              <a:rPr lang="en-US" b="1" dirty="0"/>
              <a:t>campaigns in Rangpur, Sylhet, and Rajshahi</a:t>
            </a:r>
            <a:r>
              <a:rPr lang="en-US" dirty="0"/>
              <a:t>, where customers spend $8–$9 below the national average; a $10 per-customer uplift across 3,701 customers could generate ~$37,500 in additional revenue, driven through localized free-delivery thresholds, city-specific promotions, and category-focused offers in Clothing, Toys, and Electronics, supported by a relatively higher share of premium users in these regions.</a:t>
            </a:r>
          </a:p>
          <a:p>
            <a:pPr marL="285750" indent="-285750">
              <a:buFont typeface="Arial" panose="020B0604020202020204" pitchFamily="34" charset="0"/>
              <a:buChar char="•"/>
            </a:pPr>
            <a:r>
              <a:rPr lang="en-US" dirty="0"/>
              <a:t>Investigate and address </a:t>
            </a:r>
            <a:r>
              <a:rPr lang="en-US" b="1" dirty="0"/>
              <a:t>Dhaka’s </a:t>
            </a:r>
            <a:r>
              <a:rPr lang="en-US" dirty="0"/>
              <a:t>underperformance, as the capital and most populous city records an average spend of only $502.00—lower than smaller cities such as Khulna and Barisal—</a:t>
            </a:r>
            <a:r>
              <a:rPr lang="en-US" b="1" dirty="0"/>
              <a:t>despite having the lowest customer base (1,206 users), making it the single largest untapped revenue opportunity; prioritize targeted Books and Clothing campaigns along with new-customer acquisition strategies focused on the mid-range spending band ($255–$749), which has historically driven strong revenue performance.</a:t>
            </a:r>
          </a:p>
          <a:p>
            <a:pPr marL="285750" indent="-285750">
              <a:buFont typeface="Arial" panose="020B0604020202020204" pitchFamily="34" charset="0"/>
              <a:buChar char="•"/>
            </a:pPr>
            <a:r>
              <a:rPr lang="en-US" b="1" dirty="0"/>
              <a:t>Location analysis of delivery performance </a:t>
            </a:r>
            <a:r>
              <a:rPr lang="en-US" dirty="0"/>
              <a:t>shows minimal variation across cities, </a:t>
            </a:r>
            <a:r>
              <a:rPr lang="en-US" b="1" dirty="0"/>
              <a:t>with average delivery times ranging only from 6.81 to 7.11 days. However, targeted optimization is required in Dhaka through improved inventory management and stronger new-customer retention strategies</a:t>
            </a:r>
            <a:r>
              <a:rPr lang="en-US" dirty="0"/>
              <a:t>. </a:t>
            </a:r>
            <a:r>
              <a:rPr lang="en-US" b="1" dirty="0"/>
              <a:t>Additionally, Rangpur, Sylhet, and Rajshahi </a:t>
            </a:r>
            <a:r>
              <a:rPr lang="en-US" dirty="0"/>
              <a:t>should receive enhanced premium service benefits, particularly Rajshahi, which has a higher proportion of premium users but the lowest average spend (~$495), indicating a gap between subscription value and actual purchasing behavior.</a:t>
            </a:r>
            <a:br>
              <a:rPr lang="en-US" dirty="0"/>
            </a:br>
            <a:br>
              <a:rPr lang="en-US" b="1" dirty="0"/>
            </a:br>
            <a:endParaRPr lang="en-US" b="1" dirty="0"/>
          </a:p>
          <a:p>
            <a:pPr marL="285750" indent="-285750">
              <a:buFont typeface="Arial" panose="020B0604020202020204" pitchFamily="34" charset="0"/>
              <a:buChar char="•"/>
            </a:pPr>
            <a:endParaRPr lang="en-US" b="1" dirty="0"/>
          </a:p>
        </p:txBody>
      </p:sp>
      <p:graphicFrame>
        <p:nvGraphicFramePr>
          <p:cNvPr id="41" name="Table 40">
            <a:extLst>
              <a:ext uri="{FF2B5EF4-FFF2-40B4-BE49-F238E27FC236}">
                <a16:creationId xmlns:a16="http://schemas.microsoft.com/office/drawing/2014/main" id="{C773A1BD-70C7-2D4A-D4E8-6B9D5854C3BA}"/>
              </a:ext>
            </a:extLst>
          </p:cNvPr>
          <p:cNvGraphicFramePr>
            <a:graphicFrameLocks/>
          </p:cNvGraphicFramePr>
          <p:nvPr>
            <p:extLst>
              <p:ext uri="{D42A27DB-BD31-4B8C-83A1-F6EECF244321}">
                <p14:modId xmlns:p14="http://schemas.microsoft.com/office/powerpoint/2010/main" val="2834601679"/>
              </p:ext>
            </p:extLst>
          </p:nvPr>
        </p:nvGraphicFramePr>
        <p:xfrm>
          <a:off x="76200" y="391145"/>
          <a:ext cx="12039600" cy="533400"/>
        </p:xfrm>
        <a:graphic>
          <a:graphicData uri="http://schemas.openxmlformats.org/drawingml/2006/table">
            <a:tbl>
              <a:tblPr firstRow="1" bandRow="1">
                <a:tableStyleId>{2D5ABB26-0587-4C30-8999-92F81FD0307C}</a:tableStyleId>
              </a:tblPr>
              <a:tblGrid>
                <a:gridCol w="3979281">
                  <a:extLst>
                    <a:ext uri="{9D8B030D-6E8A-4147-A177-3AD203B41FA5}">
                      <a16:colId xmlns:a16="http://schemas.microsoft.com/office/drawing/2014/main" val="2965233016"/>
                    </a:ext>
                  </a:extLst>
                </a:gridCol>
                <a:gridCol w="3963247">
                  <a:extLst>
                    <a:ext uri="{9D8B030D-6E8A-4147-A177-3AD203B41FA5}">
                      <a16:colId xmlns:a16="http://schemas.microsoft.com/office/drawing/2014/main" val="198953551"/>
                    </a:ext>
                  </a:extLst>
                </a:gridCol>
                <a:gridCol w="4097072">
                  <a:extLst>
                    <a:ext uri="{9D8B030D-6E8A-4147-A177-3AD203B41FA5}">
                      <a16:colId xmlns:a16="http://schemas.microsoft.com/office/drawing/2014/main" val="4051033048"/>
                    </a:ext>
                  </a:extLst>
                </a:gridCol>
              </a:tblGrid>
              <a:tr h="228615">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rPr>
                        <a:t>Priority Level</a:t>
                      </a:r>
                      <a:endParaRPr lang="en-US" sz="11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kern="1200" dirty="0">
                          <a:solidFill>
                            <a:schemeClr val="tx1"/>
                          </a:solidFill>
                          <a:effectLst/>
                        </a:rPr>
                        <a:t>Time Frame</a:t>
                      </a:r>
                      <a:endParaRPr lang="en-US"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solidFill>
                            <a:schemeClr val="tx1"/>
                          </a:solidFill>
                        </a:rPr>
                        <a:t>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331550"/>
                  </a:ext>
                </a:extLst>
              </a:tr>
              <a:tr h="221464">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dirty="0">
                          <a:effectLst/>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rPr>
                        <a:t>Immediate (0–3 months)</a:t>
                      </a:r>
                      <a:endParaRPr lang="en-US"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solidFill>
                            <a:schemeClr val="tx1"/>
                          </a:solidFill>
                        </a:rPr>
                        <a:t>Location &amp; Delivery </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8524076"/>
                  </a:ext>
                </a:extLst>
              </a:tr>
            </a:tbl>
          </a:graphicData>
        </a:graphic>
      </p:graphicFrame>
    </p:spTree>
    <p:extLst>
      <p:ext uri="{BB962C8B-B14F-4D97-AF65-F5344CB8AC3E}">
        <p14:creationId xmlns:p14="http://schemas.microsoft.com/office/powerpoint/2010/main" val="259702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4301-86C2-AF70-1AAA-A826E653E95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EE1947B7-A9FD-5EAB-2DB1-36024129D681}"/>
              </a:ext>
            </a:extLst>
          </p:cNvPr>
          <p:cNvSpPr txBox="1"/>
          <p:nvPr/>
        </p:nvSpPr>
        <p:spPr>
          <a:xfrm>
            <a:off x="152400" y="-70520"/>
            <a:ext cx="12192000" cy="46166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en-US" sz="2400" dirty="0">
                <a:effectLst>
                  <a:outerShdw blurRad="38100" dist="38100" dir="2700000" algn="tl">
                    <a:srgbClr val="000000">
                      <a:alpha val="43137"/>
                    </a:srgbClr>
                  </a:outerShdw>
                </a:effectLst>
                <a:latin typeface="Roboto Slab Light" pitchFamily="2" charset="0"/>
                <a:ea typeface="Roboto Slab Light" pitchFamily="2" charset="0"/>
                <a:cs typeface="BrowalliaUPC" panose="020B0502040204020203" pitchFamily="34" charset="-34"/>
              </a:rPr>
              <a:t>Recommendation Report</a:t>
            </a:r>
          </a:p>
        </p:txBody>
      </p:sp>
      <p:sp>
        <p:nvSpPr>
          <p:cNvPr id="12" name="TextBox 11">
            <a:extLst>
              <a:ext uri="{FF2B5EF4-FFF2-40B4-BE49-F238E27FC236}">
                <a16:creationId xmlns:a16="http://schemas.microsoft.com/office/drawing/2014/main" id="{727336D0-8280-ADC1-5FEE-8F3C9F652700}"/>
              </a:ext>
            </a:extLst>
          </p:cNvPr>
          <p:cNvSpPr txBox="1"/>
          <p:nvPr/>
        </p:nvSpPr>
        <p:spPr>
          <a:xfrm>
            <a:off x="3203484" y="3566507"/>
            <a:ext cx="1188002" cy="400110"/>
          </a:xfrm>
          <a:prstGeom prst="rect">
            <a:avLst/>
          </a:prstGeom>
          <a:noFill/>
        </p:spPr>
        <p:txBody>
          <a:bodyPr wrap="square" rtlCol="0">
            <a:spAutoFit/>
          </a:bodyPr>
          <a:lstStyle/>
          <a:p>
            <a:pPr algn="ctr"/>
            <a:r>
              <a:rPr lang="en-US" sz="2000" dirty="0">
                <a:solidFill>
                  <a:schemeClr val="bg1"/>
                </a:solidFill>
                <a:latin typeface="Georgia" panose="02040502050405020303" pitchFamily="18" charset="0"/>
              </a:rPr>
              <a:t>Analysis</a:t>
            </a:r>
          </a:p>
        </p:txBody>
      </p:sp>
      <p:sp>
        <p:nvSpPr>
          <p:cNvPr id="39" name="TextBox 38">
            <a:extLst>
              <a:ext uri="{FF2B5EF4-FFF2-40B4-BE49-F238E27FC236}">
                <a16:creationId xmlns:a16="http://schemas.microsoft.com/office/drawing/2014/main" id="{88270CC8-10DC-D434-0E71-7FD2DAC99AA8}"/>
              </a:ext>
            </a:extLst>
          </p:cNvPr>
          <p:cNvSpPr txBox="1">
            <a:spLocks noGrp="1" noRot="1" noMove="1" noResize="1" noEditPoints="1" noAdjustHandles="1" noChangeArrowheads="1" noChangeShapeType="1"/>
          </p:cNvSpPr>
          <p:nvPr/>
        </p:nvSpPr>
        <p:spPr>
          <a:xfrm>
            <a:off x="38100" y="1006075"/>
            <a:ext cx="12115800" cy="6740307"/>
          </a:xfrm>
          <a:prstGeom prst="rect">
            <a:avLst/>
          </a:prstGeom>
          <a:noFill/>
        </p:spPr>
        <p:txBody>
          <a:bodyPr wrap="square" rtlCol="0">
            <a:spAutoFit/>
          </a:bodyPr>
          <a:lstStyle/>
          <a:p>
            <a:pPr marL="285750" indent="-285750">
              <a:buFont typeface="Arial" panose="020B0604020202020204" pitchFamily="34" charset="0"/>
              <a:buChar char="•"/>
            </a:pPr>
            <a:r>
              <a:rPr lang="en-US" b="1" dirty="0"/>
              <a:t>Implement cross-platform equalization strategy</a:t>
            </a:r>
            <a:r>
              <a:rPr lang="en-US" dirty="0"/>
              <a:t> — Mobile (33.7%), Desktop (33.5%) and Tablet (32.8%) usage is perfectly uniform — invest </a:t>
            </a:r>
            <a:r>
              <a:rPr lang="en-US" b="1" dirty="0"/>
              <a:t>equally across all three platforms</a:t>
            </a:r>
            <a:r>
              <a:rPr lang="en-US" dirty="0"/>
              <a:t> in UX optimization, checkout speed and personalization — any channel-specific neglect directly impacts approximately </a:t>
            </a:r>
            <a:r>
              <a:rPr lang="en-US" b="1" dirty="0"/>
              <a:t>3,300 customers (33%)</a:t>
            </a:r>
            <a:r>
              <a:rPr lang="en-US" dirty="0"/>
              <a:t> of the total base.</a:t>
            </a:r>
          </a:p>
          <a:p>
            <a:pPr marL="285750" indent="-285750">
              <a:buFont typeface="Arial" panose="020B0604020202020204" pitchFamily="34" charset="0"/>
              <a:buChar char="•"/>
            </a:pPr>
            <a:r>
              <a:rPr lang="en-US" b="1" dirty="0"/>
              <a:t>In Mobile we should Focus Home , Groceries , Clothing's, With Better Description &amp; utilized Pictures &amp; also Contacting easily</a:t>
            </a:r>
          </a:p>
          <a:p>
            <a:pPr marL="285750" indent="-285750">
              <a:buFont typeface="Arial" panose="020B0604020202020204" pitchFamily="34" charset="0"/>
              <a:buChar char="•"/>
            </a:pPr>
            <a:r>
              <a:rPr lang="en-US" dirty="0"/>
              <a:t>Focus on </a:t>
            </a:r>
            <a:r>
              <a:rPr lang="en-US" b="1" dirty="0"/>
              <a:t>Desktop users by promoting </a:t>
            </a:r>
            <a:r>
              <a:rPr lang="en-US" dirty="0"/>
              <a:t>electronics accessories and </a:t>
            </a:r>
            <a:r>
              <a:rPr lang="en-US" b="1" dirty="0"/>
              <a:t>improving product review visibility; introduce book-based bundles for both trial and premium users, and encourage online payments through incentives like free monthly subscription for orders above $750, </a:t>
            </a:r>
            <a:r>
              <a:rPr lang="en-US" dirty="0"/>
              <a:t>while carefully balancing COD usage since it already contains a higher share of premium users.</a:t>
            </a:r>
          </a:p>
          <a:p>
            <a:pPr marL="285750" indent="-285750">
              <a:buFont typeface="Arial" panose="020B0604020202020204" pitchFamily="34" charset="0"/>
              <a:buChar char="•"/>
            </a:pPr>
            <a:r>
              <a:rPr lang="en-US" dirty="0"/>
              <a:t>customers browsing for 59 minutes spend the same as those browsing for 1 minute — the problem is not engagement but </a:t>
            </a:r>
            <a:r>
              <a:rPr lang="en-US" b="1" dirty="0"/>
              <a:t>checkout conversion</a:t>
            </a:r>
            <a:r>
              <a:rPr lang="en-US" dirty="0"/>
              <a:t>  invest in </a:t>
            </a:r>
            <a:r>
              <a:rPr lang="en-US" b="1" dirty="0"/>
              <a:t>exit-intent offers, abandoned cart recovery emails and simplified checkout flows</a:t>
            </a:r>
            <a:r>
              <a:rPr lang="en-US" dirty="0"/>
              <a:t> to convert browsers into buyers.</a:t>
            </a:r>
          </a:p>
          <a:p>
            <a:pPr marL="285750" indent="-285750">
              <a:buFont typeface="Arial" panose="020B0604020202020204" pitchFamily="34" charset="0"/>
              <a:buChar char="•"/>
            </a:pPr>
            <a:r>
              <a:rPr lang="en-US" b="1" dirty="0"/>
              <a:t>Migrate Cash on Delivery customers to digital payments</a:t>
            </a:r>
            <a:r>
              <a:rPr lang="en-US" dirty="0"/>
              <a:t>  </a:t>
            </a:r>
            <a:r>
              <a:rPr lang="en-US" b="1" dirty="0"/>
              <a:t>COD</a:t>
            </a:r>
            <a:r>
              <a:rPr lang="en-US" dirty="0"/>
              <a:t> has the highest dissatisfaction (35.0% Low Satisfaction) and lowest return rate (48.9%)  offer a </a:t>
            </a:r>
            <a:r>
              <a:rPr lang="en-US" b="1" dirty="0"/>
              <a:t>5% loyalty bonus or free priority delivery</a:t>
            </a:r>
            <a:r>
              <a:rPr lang="en-US" dirty="0"/>
              <a:t> for customers switching from COD to Credit Card or Bank Transfer — simultaneously reducing operational costs and improving customer experience.</a:t>
            </a:r>
          </a:p>
          <a:p>
            <a:pPr marL="285750" indent="-285750">
              <a:buFont typeface="Arial" panose="020B0604020202020204" pitchFamily="34" charset="0"/>
              <a:buChar char="•"/>
            </a:pPr>
            <a:r>
              <a:rPr lang="en-US" b="1" dirty="0"/>
              <a:t>Optimize Credit Card and Bank Transfer checkout flows</a:t>
            </a:r>
            <a:r>
              <a:rPr lang="en-US" dirty="0"/>
              <a:t> — these two methods serve </a:t>
            </a:r>
            <a:r>
              <a:rPr lang="en-US" b="1" dirty="0"/>
              <a:t>4,095 customers (41% of total)</a:t>
            </a:r>
            <a:r>
              <a:rPr lang="en-US" dirty="0"/>
              <a:t> with the highest return rates  invest in </a:t>
            </a:r>
            <a:r>
              <a:rPr lang="en-US" b="1" dirty="0"/>
              <a:t>one-click payment, saved card features and instant order confirmation</a:t>
            </a:r>
            <a:r>
              <a:rPr lang="en-US" dirty="0"/>
              <a:t> to protect and grow the business's most loyal payment segment.</a:t>
            </a:r>
          </a:p>
          <a:p>
            <a:pPr marL="285750" indent="-285750">
              <a:buFont typeface="Arial" panose="020B0604020202020204" pitchFamily="34" charset="0"/>
              <a:buChar char="•"/>
            </a:pPr>
            <a:r>
              <a:rPr lang="en-US" b="1" dirty="0"/>
              <a:t>Introduce PayPal-exclusive incentives</a:t>
            </a:r>
            <a:r>
              <a:rPr lang="en-US" dirty="0"/>
              <a:t>  PayPal users show the highest Medium Satisfaction (35.9%) but lowest High Satisfaction (31.5%)  they are neutrally satisfied but not delighted — a </a:t>
            </a:r>
            <a:r>
              <a:rPr lang="en-US" b="1" dirty="0"/>
              <a:t>PayPal cashback or instant reward</a:t>
            </a:r>
            <a:r>
              <a:rPr lang="en-US" dirty="0"/>
              <a:t> program could push </a:t>
            </a:r>
            <a:r>
              <a:rPr lang="en-US" b="1" dirty="0"/>
              <a:t>688 neutral customers</a:t>
            </a:r>
            <a:r>
              <a:rPr lang="en-US" dirty="0"/>
              <a:t> into the highly satisfied segment.</a:t>
            </a:r>
            <a:br>
              <a:rPr lang="en-US" dirty="0"/>
            </a:br>
            <a:br>
              <a:rPr lang="en-US" b="1" dirty="0"/>
            </a:br>
            <a:endParaRPr lang="en-US" b="1" dirty="0"/>
          </a:p>
          <a:p>
            <a:pPr marL="285750" indent="-285750">
              <a:buFont typeface="Arial" panose="020B0604020202020204" pitchFamily="34" charset="0"/>
              <a:buChar char="•"/>
            </a:pPr>
            <a:endParaRPr lang="en-US" b="1" dirty="0"/>
          </a:p>
        </p:txBody>
      </p:sp>
      <p:graphicFrame>
        <p:nvGraphicFramePr>
          <p:cNvPr id="41" name="Table 40">
            <a:extLst>
              <a:ext uri="{FF2B5EF4-FFF2-40B4-BE49-F238E27FC236}">
                <a16:creationId xmlns:a16="http://schemas.microsoft.com/office/drawing/2014/main" id="{A14D918E-D74C-C420-85A2-5898C5C16D19}"/>
              </a:ext>
            </a:extLst>
          </p:cNvPr>
          <p:cNvGraphicFramePr>
            <a:graphicFrameLocks/>
          </p:cNvGraphicFramePr>
          <p:nvPr>
            <p:extLst>
              <p:ext uri="{D42A27DB-BD31-4B8C-83A1-F6EECF244321}">
                <p14:modId xmlns:p14="http://schemas.microsoft.com/office/powerpoint/2010/main" val="1406779195"/>
              </p:ext>
            </p:extLst>
          </p:nvPr>
        </p:nvGraphicFramePr>
        <p:xfrm>
          <a:off x="76200" y="391145"/>
          <a:ext cx="12039600" cy="533400"/>
        </p:xfrm>
        <a:graphic>
          <a:graphicData uri="http://schemas.openxmlformats.org/drawingml/2006/table">
            <a:tbl>
              <a:tblPr firstRow="1" bandRow="1">
                <a:tableStyleId>{2D5ABB26-0587-4C30-8999-92F81FD0307C}</a:tableStyleId>
              </a:tblPr>
              <a:tblGrid>
                <a:gridCol w="3957320">
                  <a:extLst>
                    <a:ext uri="{9D8B030D-6E8A-4147-A177-3AD203B41FA5}">
                      <a16:colId xmlns:a16="http://schemas.microsoft.com/office/drawing/2014/main" val="2965233016"/>
                    </a:ext>
                  </a:extLst>
                </a:gridCol>
                <a:gridCol w="3985208">
                  <a:extLst>
                    <a:ext uri="{9D8B030D-6E8A-4147-A177-3AD203B41FA5}">
                      <a16:colId xmlns:a16="http://schemas.microsoft.com/office/drawing/2014/main" val="198953551"/>
                    </a:ext>
                  </a:extLst>
                </a:gridCol>
                <a:gridCol w="4097072">
                  <a:extLst>
                    <a:ext uri="{9D8B030D-6E8A-4147-A177-3AD203B41FA5}">
                      <a16:colId xmlns:a16="http://schemas.microsoft.com/office/drawing/2014/main" val="4051033048"/>
                    </a:ext>
                  </a:extLst>
                </a:gridCol>
              </a:tblGrid>
              <a:tr h="224237">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effectLst/>
                        </a:rPr>
                        <a:t>Priority Level</a:t>
                      </a:r>
                      <a:endParaRPr lang="en-US" sz="11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kern="1200" dirty="0">
                          <a:solidFill>
                            <a:schemeClr val="tx1"/>
                          </a:solidFill>
                          <a:effectLst/>
                        </a:rPr>
                        <a:t>Time Frame</a:t>
                      </a:r>
                      <a:endParaRPr lang="en-US"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solidFill>
                            <a:schemeClr val="tx1"/>
                          </a:solidFill>
                        </a:rPr>
                        <a:t>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331550"/>
                  </a:ext>
                </a:extLst>
              </a:tr>
              <a:tr h="237428">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100" dirty="0">
                          <a:effectLst/>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rPr>
                        <a:t>Immediate (0–3 months)</a:t>
                      </a:r>
                      <a:endParaRPr lang="en-US"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60" rtl="0" eaLnBrk="1" fontAlgn="auto" latinLnBrk="0" hangingPunct="1">
                        <a:lnSpc>
                          <a:spcPct val="100000"/>
                        </a:lnSpc>
                        <a:spcBef>
                          <a:spcPts val="0"/>
                        </a:spcBef>
                        <a:spcAft>
                          <a:spcPts val="0"/>
                        </a:spcAft>
                        <a:buClrTx/>
                        <a:buSzTx/>
                        <a:buFontTx/>
                        <a:buNone/>
                        <a:tabLst/>
                        <a:defRPr/>
                      </a:pPr>
                      <a:r>
                        <a:rPr lang="en-US" sz="1200" dirty="0"/>
                        <a:t> Payment &amp; Digital Platform Strategy</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8524076"/>
                  </a:ext>
                </a:extLst>
              </a:tr>
            </a:tbl>
          </a:graphicData>
        </a:graphic>
      </p:graphicFrame>
    </p:spTree>
    <p:extLst>
      <p:ext uri="{BB962C8B-B14F-4D97-AF65-F5344CB8AC3E}">
        <p14:creationId xmlns:p14="http://schemas.microsoft.com/office/powerpoint/2010/main" val="1902693814"/>
      </p:ext>
    </p:extLst>
  </p:cSld>
  <p:clrMapOvr>
    <a:masterClrMapping/>
  </p:clrMapOvr>
</p:sld>
</file>

<file path=ppt/theme/theme1.xml><?xml version="1.0" encoding="utf-8"?>
<a:theme xmlns:a="http://schemas.openxmlformats.org/drawingml/2006/main" name="Office Theme">
  <a:themeElements>
    <a:clrScheme name="Custom 51">
      <a:dk1>
        <a:sysClr val="windowText" lastClr="000000"/>
      </a:dk1>
      <a:lt1>
        <a:sysClr val="window" lastClr="FFFFFF"/>
      </a:lt1>
      <a:dk2>
        <a:srgbClr val="44546A"/>
      </a:dk2>
      <a:lt2>
        <a:srgbClr val="BF2424"/>
      </a:lt2>
      <a:accent1>
        <a:srgbClr val="9762AA"/>
      </a:accent1>
      <a:accent2>
        <a:srgbClr val="0A9CCD"/>
      </a:accent2>
      <a:accent3>
        <a:srgbClr val="69AA43"/>
      </a:accent3>
      <a:accent4>
        <a:srgbClr val="FBAD4B"/>
      </a:accent4>
      <a:accent5>
        <a:srgbClr val="F25E3D"/>
      </a:accent5>
      <a:accent6>
        <a:srgbClr val="EA5A95"/>
      </a:accent6>
      <a:hlink>
        <a:srgbClr val="BF2424"/>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584</TotalTime>
  <Words>1268</Words>
  <Application>Microsoft Office PowerPoint</Application>
  <PresentationFormat>Widescreen</PresentationFormat>
  <Paragraphs>77</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Georgia</vt:lpstr>
      <vt:lpstr>Georgia Pro Light</vt:lpstr>
      <vt:lpstr>Roboto Slab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Kavitha</dc:creator>
  <cp:lastModifiedBy>t45156</cp:lastModifiedBy>
  <cp:revision>11</cp:revision>
  <dcterms:created xsi:type="dcterms:W3CDTF">2020-04-27T07:15:58Z</dcterms:created>
  <dcterms:modified xsi:type="dcterms:W3CDTF">2026-06-04T22:06:29Z</dcterms:modified>
</cp:coreProperties>
</file>